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8" d="100"/>
          <a:sy n="78" d="100"/>
        </p:scale>
        <p:origin x="19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6986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0:45 · Quản lý dự án) Kính chào tổ chuyên gia. Chúng tôi là Công ty TNHH Group 6. Đề xuất cho gói phát triển website thương mại điện tử ABC Wear: giá dự thầu 1.300.000.000 đồng, sau giảm giá 5% còn 1.235.000.000 đồng. Thời gian thực hiện từ ngày ký hợp đồng đến cutover ngày 01 tháng 7. Bảo hành 12 tháng. Trong mười lăm phút, chúng tôi trình bày mười một nội dung, bám đúng mười mục mà RFP yêu cầu.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Xin bắt đầu bằng cách chúng tôi hiểu đề bài, vì đó là chỗ quyết định mọi con số phía sau.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2:00 · Quản lý dự án) RFP dài năm trang. Chúng tôi tách ra hai mươi hai yêu cầu, đánh mã R01 đến R22 khớp đúng mã trong hồ sơ mời thầu, rồi lập ma trận đối chiếu từng yêu cầu với vị trí đáp ứng. Kết quả trung thực: mười chín yêu cầu đáp ứng, ba yêu cầu chưa thể khẳng định trọn vẹn — R10 về cách nộp hồ sơ, R13 về tên bên B, R22 về bốn khung đặc tả còn trống ở trang 4 và 5 của RFP. Ba điểm này ghi là đề nghị làm rõ, không ghi là đã đáp ứng. Một hồ sơ nói đáp ứng mọi thứ thường là hồ sơ chưa đọc kỹ. Nếu được hỏi: ma trận đầy đủ ở mục XI.9.</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 3:30 · Quản lý dự án) Sơ đồ RFP vẽ rõ ba nhóm chức năng Product Search, Member Administration, Order cùng Selling DB kết nối Main System. Chúng tôi chào đúng ba nhóm đó cộng một hạng mục tích hợp. Trang 4 RFP ghi các chức năng quản trị nội bộ nằm ngoài phạm vi, nên quản lý sản phẩm, tồn kho, khuyến mại, cấu hình, báo cáo quản trị tiếp tục do Main System đảm nhiệm, không nằm trong bảng giá. Gợi ý sản phẩm, so sánh sản phẩm, hóa đơn điện tử, kết nối đơn vị giao hàng được tách thành tùy chọn có báo giá riêng; giá gói cơ sở không đổi. Làm vậy để tổ chuyên gia so sánh các hồ sơ trên cùng mặt bằng.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 5:15 · Technical Lead) Sáu tầng. Truy cập: trình duyệt máy tính và di động, responsive. Cân bằng tải chạy cặp chủ động và chờ, kết thúc SSL, một máy hỏng không gián đoạn dịch vụ. Cổng API kèm dịch vụ xác thực: định tuyến, giới hạn tần suất, cấp mã phiên. Nghiệp vụ tách ba dịch vụ độc lập đúng ba nhóm chức năng RFP; mùa cao điểm nhân bản riêng dịch vụ tìm kiếm. Dữ liệu: Selling DB có bản sao đọc và chuyển đổi dự phòng; cache và chỉ mục dựng lại được từ dữ liệu gốc. Adapter tích hợp là nơi duy nhất trao đổi với Main System: sản phẩm và tồn kho vào, đơn hàng ra, mọi lần trao đổi đều ghi nhật ký để đối soát. Các sản phẩm nền tảng đã định giá và có phương án tương đương.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 → 6:30 · Technical Lead) Đây là một trong bốn khung RFP để trống, chúng tôi vẽ luôn. Selling DB có mười thực thể. Ba quyết định thiết kế. Một: đơn hàng lưu bản chụp địa chỉ giao hàng và giá tại thời điểm mua, khách sửa địa chỉ hay cửa hàng đổi giá về sau thì đơn cũ vẫn đúng. Hai: cho phép đặt hàng không đăng nhập, lưu email và điện thoại khách vãng lai. Ba: một đơn có nhiều bản ghi thanh toán vì thanh toán thất bại rồi thử lại là chuyện bình thường; hoàn tiền có thực thể riêng. Mô hình logic, vật lý và từ điển dữ liệu nằm trong D03, được ABC Wear duyệt trước khi viết dòng mã đầu tiên.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(6:30 → 7:30 · Technical Lead) RFP đặt hai chỉ tiêu: phản hồi trong hai giây và dùng được 24/365. Chúng tôi giữ nguyên cả hai. Hai giây: đo tại trình duyệt, 400 phiên hoạt động thực tế, tăng tải 10 phút, giữ 60 phút, lặp ba lần; cơ cấu 40% tìm kiếm, 30% xem chi tiết, 20% tài khoản, 10% đặt hàng. Ba ràng buộc chặt hơn thông thường: từng mẫu hợp lệ phải đạt, không lấy trung bình, không thay bằng phân vị; giao dịch lỗi hoặc quá thời gian tính là không đạt và vẫn nằm trong mẫu; bằng chứng nghiệm thu là lần chạy đủ trên môi trường vận hành trước go-live, không ngoại suy từ môi trường thử.</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 → 8:30 · Technical Lead) 24/365: bảo trì thông thường thực hiện luân phiên, không gián đoạn dịch vụ, không có khoản miễn trừ mặc định; mọi khoảng dừng ghi trong báo cáo khả dụng hằng tháng. Bổ sung những cam kết RFP chưa nêu nhưng bắt buộc với hệ thống lưu hồ sơ thành viên và đơn hàng: kiểm thử theo ma trận OWASP ASVS mức hai, cấu hình máy chủ theo chuẩn CIS, nguyên tắc quyền tối thiểu, sao lưu hằng ngày, khôi phục dịch vụ trong bốn giờ, mất dữ liệu tối đa mười lăm phút.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 → 10:00 · Quản lý dự án) Lập lịch ngược từ cutover 01/07, chia bảy sprint, mỗi sprint hai tuần. Từ ngày ký 25/03 đến hết 30/06 là đúng 98 ngày; trừ cuối tuần và ba ngày lễ Giỗ Tổ, 30/4, 1/5 còn 67 ngày làm việc. Sprint 0: khởi động, khảo sát, dựng môi trường. Sprint 1: chốt đặc tả 10/4, thiết kế 18/4. Ba sprint tiếp theo phát triển, ba module chạy song song; xong tích hợp Main System 28/5, cũng là ngày đóng băng tính năng. Sprint 5: hiệu năng 4/6, bảo mật 10/6. Sprint 6: UAT 18/6, đào tạo 22/6, diễn tập 27/6, go/no-go 30/6. Demo cuối mỗi sprint thay cho họp tiến độ tuần đó, ABC Wear thấy sản phẩm chạy thật bảy lần trước go-live. Hai hạng mục đầu muộn hơn mốc HSMT 10 và 3 ngày vì tính từ sau đóng thầu; ký sớm hơn thì trả lại mốc gốc. Chúng tôi ghi rõ sai khác thay vì lặng lẽ chỉnh số.</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 → 11:00 · Quản lý dự án) Chín nhân sự chủ chốt. Chúng tôi kê số ngày công của từng người trong từng sprint, không ô nào vượt số ngày làm việc của sprint. Tổng 429 ngày công; chia 67 ngày làm việc là bình quân 6,4 người toàn thời gian. Đội chín người có năng lực tối đa khoảng 600 ngày công, còn dư khoảng 174 ngày công làm vùng đệm nếu tích hợp gặp sự cố. Quản lý dự án toàn thời gian, là đầu mối duy nhất với ABC Wear. Trưởng nhóm kiểm thử báo cáo độc lập. Mỗi vai trò có người thay thế. Họp: nội bộ hằng ngày 15 phút, demo với ABC Wear cuối mỗi sprint, rà soát cuối giai đoạn, họp đột xuất khi có sự cố.</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 → 11:45 · Business Analyst) Tám sản phẩm bàn giao D01 đến D08 đúng mã hồ sơ mời thầu. Tách hai văn bản ở hai thời điểm: biên bản go/no-go ký trước 01/07, làm điều kiện chuyển đổi; biên bản nghiệm thu triển khai ký tại hoặc sau cutover, sau khi kiểm thử nhanh trên môi trường thật. Biên bản thứ hai mới là mốc bắt đầu 12 tháng bảo hành và mốc thanh toán 10% cuối. D08 là hồ sơ sửa lỗi cả năm, chỉ đóng sau khi hết 12 tháng.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(11:45 → 12:15 · Business Analyst) Bốn mức hỗ trợ. Sự cố nghiêm trọng — hệ thống dừng, không đặt được hàng, hoặc có dấu hiệu mất hay rò rỉ dữ liệu khách hàng: phản hồi 1 giờ, khôi phục dịch vụ 4 giờ, sửa dứt điểm nguyên nhân 16 giờ. Đồng hồ tính từ lúc yêu cầu được ghi nhận trên kênh tiếp nhận, không từ lúc chúng tôi xác nhận. Trực ba ca luân phiên, chi phí đã nằm trong giá.</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 → 13:15 · Business Analyst) Giá tính từ dưới lên, từ năng lực thật của đội. Ngày công từng vai trò nhân đơn giá vai trò: QLDA và Technical Lead 3 triệu một ngày công, lập trình viên 2,4 triệu, kiểm thử và triển khai 2,2 triệu, đã gồm quản lý, lợi nhuận và thuế. 429 ngày công ra 1 tỷ 102 triệu nhân công. Cộng 75 triệu bảo hành 12 tháng, cộng 123 triệu dự phòng chủ yếu cho rủi ro tích hợp Main System — khoảng 48 ngày công, đủ bù một sprint chậm mà không dời cutover. Tổng đúng 1 tỷ 300 triệu, giảm 5% còn 1 tỷ 235 triệu. Theo sáu hạng mục: đặc tả 197, thiết kế 103, phát triển và tích hợp 580 (gồm toàn bộ dự phòng), kiểm thử và UAT 201, vận hành và cutover 144, bảo hành 75 triệu.</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(13:15 → 13:45 · Business Analyst) Giá này không phải toàn bộ chi phí vận hành của ABC Wear. Thuê máy chủ, băng thông, chứng thư số, phí cổng thanh toán, dịch vụ gửi tin nhắn là chi phí định kỳ thuộc chủ đầu tư. Chúng tôi liệt kê đủ chín khoản trong hồ sơ kèm bên chịu chi phí, để ABC Wear lập dự toán vận hành ngay từ bây giờ thay vì phát hiện sau go-live.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(13:45 → 14:30 · Business Analyst) Chấp thuận các điều kiện chính: trọn gói, không tạm ứng, thanh toán 20/30/40/10 gắn với đầu ra. Mười phần trăm cuối trả sau nghiệm thu triển khai, đổi lấy bảo lãnh bảo hành 10% giá trị hợp đồng do ngân hàng thương mại phát hành, hiệu lực đến 30 ngày sau khi hết bảo hành; phí đã tính trong giá. Chấp thuận biên độ khối lượng 5% tại thời điểm trao hợp đồng, định giá theo đơn giá hạng mục. Quyền sở hữu: phần viết riêng thuộc ABC Wear; thư viện nguồn mở và bên thứ ba thì không cam kết chuyển giao quyền mình không sở hữu, nhưng bàn giao đủ danh mục, phiên bản, giấy phép và hướng dẫn tự dựng lại hệ thống. Không dùng nhà thầu phụ khi chưa có văn bản chấp thuận.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(14:30 → 15:00 · Quản lý dự án) Rủi ro lớn nhất không nằm ở phần chúng tôi viết mới mà ở chỗ nối với Main System: RFP chỉ vẽ một mũi tên. Đề nghị ABC Wear cung cấp đặc tả giao diện, dữ liệu mẫu, môi trường thử trong 10 ngày làm việc kể từ ngày ký. Nếu chậm, vẫn chạy bằng môi trường mô phỏng để không dừng tiến độ, nhưng nghiệm thu bắt buộc trên giao diện thật. Hồ sơ có 14 đề nghị làm rõ; ba quan trọng nhất: Order có gồm thanh toán trực tuyến không, ai thuê và vận hành hạ tầng sau cutover, thông số chính thức đo tiêu chí hai giây.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(15:00 · Quản lý dự án) Năm điểm. Một, đúng phạm vi: không chào thừa để đẩy giá, không cắt bớt để hạ giá. Hai, hai chỉ tiêu gốc giữ nguyên, kèm cách đo cụ thể. Ba, lịch về đúng 01/07 qua bảy sprint, mọi điều kiện quyết định trước cutover. Bốn, giá bóc tách đến từng ngày công của từng người, phần chi phí không thuộc chúng tôi cũng nói rõ. Năm, những gì chưa chắc chắn ghi thành đề nghị làm rõ thay vì giấu vào giá. Xin cảm ơn, sẵn sàng trả lời câu hỏi.</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Hỏi đáp. Giá thấp: 429 ngày công theo từng người, từng sprint, không vượt năng lực; còn 174 ngày công dư và 123 triệu dự phòng. Giá cao: nhân công 1,1 tỷ, đơn giá bình quân 2,57 triệu một ngày công đã gồm quản lý, lợi nhuận, thuế. Dự phòng nằm ở hạng mục phát triển vì rủi ro tích hợp xảy ra ở đó, ghi riêng 123,1 triệu. Kịp 01/07: 429 chia 67 là 6,4 người trên đội 9; demo mỗi hai tuần. Sprint trễ: dùng vùng đệm và dự phòng; chậm API hoặc phê duyệt quá 5 ngày làm việc thì lập biên bản trình ABC Wear, không tự dời cutover. Thanh toán online: có trong Order, giả định GĐ-03, không cần thì giảm 60 triệu trước giảm giá. Một hợp đồng tương tự: kê khai trung thực kèm hợp đồng không hoàn thành. Không hứa thêm tính năng, không giảm giá tại chỗ, không nói để sau.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3"/>
        </a:solidFill>
        <a:effectLst/>
      </p:bgPr>
    </p:bg>
    <p:spTree>
      <p:nvGrpSpPr>
        <p:cNvPr id="1" name=""/>
        <p:cNvGrpSpPr/>
        <p:nvPr/>
      </p:nvGrpSpPr>
      <p:grpSpPr>
        <a:xfrm>
          <a:off x="0" y="0"/>
          <a:ext cx="0" cy="0"/>
          <a:chOff x="0" y="0"/>
          <a:chExt cx="0" cy="0"/>
        </a:xfrm>
      </p:grpSpPr>
      <p:sp>
        <p:nvSpPr>
          <p:cNvPr id="2" name="Text 0"/>
          <p:cNvSpPr/>
          <p:nvPr/>
        </p:nvSpPr>
        <p:spPr>
          <a:xfrm>
            <a:off x="812785" y="812785"/>
            <a:ext cx="10883348" cy="256469"/>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E8A48F"/>
                </a:solidFill>
                <a:latin typeface="Times New Roman" pitchFamily="34" charset="0"/>
                <a:ea typeface="Times New Roman" pitchFamily="34" charset="-122"/>
                <a:cs typeface="Times New Roman" pitchFamily="34" charset="-120"/>
              </a:rPr>
              <a:t>HỒ SƠ DỰ THẦU · GÓI THẦU WEBSITE THƯƠNG MẠI ĐIỆN TỬ</a:t>
            </a:r>
            <a:endParaRPr lang="en-US" sz="1300" dirty="0"/>
          </a:p>
        </p:txBody>
      </p:sp>
      <p:sp>
        <p:nvSpPr>
          <p:cNvPr id="3" name="Text 1"/>
          <p:cNvSpPr/>
          <p:nvPr/>
        </p:nvSpPr>
        <p:spPr>
          <a:xfrm>
            <a:off x="812785" y="1246996"/>
            <a:ext cx="9810676" cy="1254684"/>
          </a:xfrm>
          <a:prstGeom prst="rect">
            <a:avLst/>
          </a:prstGeom>
          <a:noFill/>
          <a:ln/>
        </p:spPr>
        <p:txBody>
          <a:bodyPr wrap="square" lIns="0" tIns="0" rIns="0" bIns="0" rtlCol="0" anchor="t">
            <a:normAutofit/>
          </a:bodyPr>
          <a:lstStyle/>
          <a:p>
            <a:pPr marL="0" indent="0" algn="l">
              <a:lnSpc>
                <a:spcPts val="4840"/>
              </a:lnSpc>
              <a:buNone/>
            </a:pPr>
            <a:r>
              <a:rPr lang="en-US" sz="4400" b="1" dirty="0">
                <a:solidFill>
                  <a:srgbClr val="F6F4EF"/>
                </a:solidFill>
                <a:latin typeface="Times New Roman" pitchFamily="34" charset="0"/>
                <a:ea typeface="Times New Roman" pitchFamily="34" charset="-122"/>
                <a:cs typeface="Times New Roman" pitchFamily="34" charset="-120"/>
              </a:rPr>
              <a:t>Đề xuất xây dựng website bán hàng trực tuyến ABC Wear</a:t>
            </a:r>
            <a:endParaRPr lang="en-US" sz="4400" dirty="0"/>
          </a:p>
        </p:txBody>
      </p:sp>
      <p:sp>
        <p:nvSpPr>
          <p:cNvPr id="4" name="Text 2"/>
          <p:cNvSpPr/>
          <p:nvPr/>
        </p:nvSpPr>
        <p:spPr>
          <a:xfrm>
            <a:off x="812785" y="2679421"/>
            <a:ext cx="10883348" cy="345399"/>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9C2D0"/>
                </a:solidFill>
                <a:latin typeface="Times New Roman" pitchFamily="34" charset="0"/>
                <a:ea typeface="Times New Roman" pitchFamily="34" charset="-122"/>
                <a:cs typeface="Times New Roman" pitchFamily="34" charset="-120"/>
              </a:rPr>
              <a:t>Công ty TNHH Group 6</a:t>
            </a:r>
            <a:endParaRPr lang="en-US" sz="1800" dirty="0"/>
          </a:p>
        </p:txBody>
      </p:sp>
      <p:sp>
        <p:nvSpPr>
          <p:cNvPr id="5" name="Shape 3"/>
          <p:cNvSpPr/>
          <p:nvPr/>
        </p:nvSpPr>
        <p:spPr>
          <a:xfrm>
            <a:off x="812785" y="5059231"/>
            <a:ext cx="10566357" cy="0"/>
          </a:xfrm>
          <a:prstGeom prst="line">
            <a:avLst/>
          </a:prstGeom>
          <a:noFill/>
          <a:ln w="12700">
            <a:solidFill>
              <a:srgbClr val="3A4557"/>
            </a:solidFill>
            <a:prstDash val="solid"/>
          </a:ln>
        </p:spPr>
      </p:sp>
      <p:sp>
        <p:nvSpPr>
          <p:cNvPr id="6" name="Text 4"/>
          <p:cNvSpPr/>
          <p:nvPr/>
        </p:nvSpPr>
        <p:spPr>
          <a:xfrm>
            <a:off x="812785" y="5316215"/>
            <a:ext cx="2485390" cy="472472"/>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6F4EF"/>
                </a:solidFill>
                <a:latin typeface="Times New Roman" pitchFamily="34" charset="0"/>
                <a:ea typeface="Times New Roman" pitchFamily="34" charset="-122"/>
                <a:cs typeface="Times New Roman" pitchFamily="34" charset="-120"/>
              </a:rPr>
              <a:t>1,3 tỷ</a:t>
            </a:r>
            <a:endParaRPr lang="en-US" sz="3200" dirty="0"/>
          </a:p>
        </p:txBody>
      </p:sp>
      <p:sp>
        <p:nvSpPr>
          <p:cNvPr id="7" name="Text 5"/>
          <p:cNvSpPr/>
          <p:nvPr/>
        </p:nvSpPr>
        <p:spPr>
          <a:xfrm>
            <a:off x="812785" y="5814073"/>
            <a:ext cx="2485390"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2D0"/>
                </a:solidFill>
                <a:latin typeface="Times New Roman" pitchFamily="34" charset="0"/>
                <a:ea typeface="Times New Roman" pitchFamily="34" charset="-122"/>
                <a:cs typeface="Times New Roman" pitchFamily="34" charset="-120"/>
              </a:rPr>
              <a:t>Giá dự thầu (VND)</a:t>
            </a:r>
            <a:endParaRPr lang="en-US" sz="1300" dirty="0"/>
          </a:p>
        </p:txBody>
      </p:sp>
      <p:sp>
        <p:nvSpPr>
          <p:cNvPr id="8" name="Text 6"/>
          <p:cNvSpPr/>
          <p:nvPr/>
        </p:nvSpPr>
        <p:spPr>
          <a:xfrm>
            <a:off x="3530571" y="5316215"/>
            <a:ext cx="2485390" cy="472472"/>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6F4EF"/>
                </a:solidFill>
                <a:latin typeface="Times New Roman" pitchFamily="34" charset="0"/>
                <a:ea typeface="Times New Roman" pitchFamily="34" charset="-122"/>
                <a:cs typeface="Times New Roman" pitchFamily="34" charset="-120"/>
              </a:rPr>
              <a:t>1,235 tỷ</a:t>
            </a:r>
            <a:endParaRPr lang="en-US" sz="3200" dirty="0"/>
          </a:p>
        </p:txBody>
      </p:sp>
      <p:sp>
        <p:nvSpPr>
          <p:cNvPr id="9" name="Text 7"/>
          <p:cNvSpPr/>
          <p:nvPr/>
        </p:nvSpPr>
        <p:spPr>
          <a:xfrm>
            <a:off x="3530571" y="5814073"/>
            <a:ext cx="2485390"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2D0"/>
                </a:solidFill>
                <a:latin typeface="Times New Roman" pitchFamily="34" charset="0"/>
                <a:ea typeface="Times New Roman" pitchFamily="34" charset="-122"/>
                <a:cs typeface="Times New Roman" pitchFamily="34" charset="-120"/>
              </a:rPr>
              <a:t>Sau giảm giá 5%</a:t>
            </a:r>
            <a:endParaRPr lang="en-US" sz="1300" dirty="0"/>
          </a:p>
        </p:txBody>
      </p:sp>
      <p:sp>
        <p:nvSpPr>
          <p:cNvPr id="10" name="Text 8"/>
          <p:cNvSpPr/>
          <p:nvPr/>
        </p:nvSpPr>
        <p:spPr>
          <a:xfrm>
            <a:off x="6248357" y="5316215"/>
            <a:ext cx="2485390" cy="472472"/>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E8A48F"/>
                </a:solidFill>
                <a:latin typeface="Times New Roman" pitchFamily="34" charset="0"/>
                <a:ea typeface="Times New Roman" pitchFamily="34" charset="-122"/>
                <a:cs typeface="Times New Roman" pitchFamily="34" charset="-120"/>
              </a:rPr>
              <a:t>01/07</a:t>
            </a:r>
            <a:endParaRPr lang="en-US" sz="3200" dirty="0"/>
          </a:p>
        </p:txBody>
      </p:sp>
      <p:sp>
        <p:nvSpPr>
          <p:cNvPr id="11" name="Text 9"/>
          <p:cNvSpPr/>
          <p:nvPr/>
        </p:nvSpPr>
        <p:spPr>
          <a:xfrm>
            <a:off x="6248357" y="5814073"/>
            <a:ext cx="2485390"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2D0"/>
                </a:solidFill>
                <a:latin typeface="Times New Roman" pitchFamily="34" charset="0"/>
                <a:ea typeface="Times New Roman" pitchFamily="34" charset="-122"/>
                <a:cs typeface="Times New Roman" pitchFamily="34" charset="-120"/>
              </a:rPr>
              <a:t>Cutover theo RFP</a:t>
            </a:r>
            <a:endParaRPr lang="en-US" sz="1300" dirty="0"/>
          </a:p>
        </p:txBody>
      </p:sp>
      <p:sp>
        <p:nvSpPr>
          <p:cNvPr id="12" name="Text 10"/>
          <p:cNvSpPr/>
          <p:nvPr/>
        </p:nvSpPr>
        <p:spPr>
          <a:xfrm>
            <a:off x="8966143" y="5316215"/>
            <a:ext cx="2485390" cy="472472"/>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6F4EF"/>
                </a:solidFill>
                <a:latin typeface="Times New Roman" pitchFamily="34" charset="0"/>
                <a:ea typeface="Times New Roman" pitchFamily="34" charset="-122"/>
                <a:cs typeface="Times New Roman" pitchFamily="34" charset="-120"/>
              </a:rPr>
              <a:t>12 tháng</a:t>
            </a:r>
            <a:endParaRPr lang="en-US" sz="3200" dirty="0"/>
          </a:p>
        </p:txBody>
      </p:sp>
      <p:sp>
        <p:nvSpPr>
          <p:cNvPr id="13" name="Text 11"/>
          <p:cNvSpPr/>
          <p:nvPr/>
        </p:nvSpPr>
        <p:spPr>
          <a:xfrm>
            <a:off x="8966143" y="5814073"/>
            <a:ext cx="2485390"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2D0"/>
                </a:solidFill>
                <a:latin typeface="Times New Roman" pitchFamily="34" charset="0"/>
                <a:ea typeface="Times New Roman" pitchFamily="34" charset="-122"/>
                <a:cs typeface="Times New Roman" pitchFamily="34" charset="-120"/>
              </a:rPr>
              <a:t>Bảo hành từ nghiệm thu</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85" y="812785"/>
            <a:ext cx="10883348" cy="256469"/>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5482F"/>
                </a:solidFill>
                <a:latin typeface="Times New Roman" pitchFamily="34" charset="0"/>
                <a:ea typeface="Times New Roman" pitchFamily="34" charset="-122"/>
                <a:cs typeface="Times New Roman" pitchFamily="34" charset="-120"/>
              </a:rPr>
              <a:t>TỔNG </a:t>
            </a:r>
            <a:r>
              <a:rPr lang="en-US" sz="1300" b="1" kern="0" spc="150" dirty="0" smtClean="0">
                <a:solidFill>
                  <a:srgbClr val="B5482F"/>
                </a:solidFill>
                <a:latin typeface="Times New Roman" pitchFamily="34" charset="0"/>
                <a:ea typeface="Times New Roman" pitchFamily="34" charset="-122"/>
                <a:cs typeface="Times New Roman" pitchFamily="34" charset="-120"/>
              </a:rPr>
              <a:t>QUAN</a:t>
            </a:r>
            <a:endParaRPr lang="en-US" sz="1300" dirty="0"/>
          </a:p>
        </p:txBody>
      </p:sp>
      <p:sp>
        <p:nvSpPr>
          <p:cNvPr id="3" name="Text 1"/>
          <p:cNvSpPr/>
          <p:nvPr/>
        </p:nvSpPr>
        <p:spPr>
          <a:xfrm>
            <a:off x="812785" y="1119996"/>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B2433"/>
                </a:solidFill>
                <a:latin typeface="Times New Roman" pitchFamily="34" charset="0"/>
                <a:ea typeface="Times New Roman" pitchFamily="34" charset="-122"/>
                <a:cs typeface="Times New Roman" pitchFamily="34" charset="-120"/>
              </a:rPr>
              <a:t>Nội dung trình bày</a:t>
            </a:r>
            <a:endParaRPr lang="en-US" sz="3200" dirty="0"/>
          </a:p>
        </p:txBody>
      </p:sp>
      <p:sp>
        <p:nvSpPr>
          <p:cNvPr id="4" name="Shape 2"/>
          <p:cNvSpPr/>
          <p:nvPr/>
        </p:nvSpPr>
        <p:spPr>
          <a:xfrm>
            <a:off x="812785" y="1844455"/>
            <a:ext cx="3522119" cy="0"/>
          </a:xfrm>
          <a:prstGeom prst="line">
            <a:avLst/>
          </a:prstGeom>
          <a:noFill/>
          <a:ln w="6350">
            <a:solidFill>
              <a:srgbClr val="D6D0C3"/>
            </a:solidFill>
            <a:prstDash val="solid"/>
          </a:ln>
        </p:spPr>
      </p:sp>
      <p:sp>
        <p:nvSpPr>
          <p:cNvPr id="5" name="Text 3"/>
          <p:cNvSpPr/>
          <p:nvPr/>
        </p:nvSpPr>
        <p:spPr>
          <a:xfrm>
            <a:off x="812785" y="1960269"/>
            <a:ext cx="254015"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5482F"/>
                </a:solidFill>
                <a:latin typeface="Times New Roman" pitchFamily="34" charset="0"/>
                <a:ea typeface="Times New Roman" pitchFamily="34" charset="-122"/>
                <a:cs typeface="Times New Roman" pitchFamily="34" charset="-120"/>
              </a:rPr>
              <a:t>01</a:t>
            </a:r>
            <a:endParaRPr lang="en-US" sz="1600" dirty="0"/>
          </a:p>
        </p:txBody>
      </p:sp>
      <p:sp>
        <p:nvSpPr>
          <p:cNvPr id="6" name="Text 4"/>
          <p:cNvSpPr/>
          <p:nvPr/>
        </p:nvSpPr>
        <p:spPr>
          <a:xfrm>
            <a:off x="1142927" y="1974380"/>
            <a:ext cx="1272440" cy="292041"/>
          </a:xfrm>
          <a:prstGeom prst="rect">
            <a:avLst/>
          </a:prstGeom>
          <a:noFill/>
          <a:ln/>
        </p:spPr>
        <p:txBody>
          <a:bodyPr wrap="square" lIns="0" tIns="0" rIns="0" bIns="0" rtlCol="0" anchor="t">
            <a:normAutofit fontScale="92500"/>
          </a:bodyPr>
          <a:lstStyle/>
          <a:p>
            <a:pPr marL="0" indent="0" algn="l">
              <a:lnSpc>
                <a:spcPts val="2100"/>
              </a:lnSpc>
              <a:buNone/>
            </a:pPr>
            <a:r>
              <a:rPr lang="en-US" sz="1500" dirty="0" err="1" smtClean="0">
                <a:solidFill>
                  <a:srgbClr val="1B2433"/>
                </a:solidFill>
                <a:latin typeface="Times New Roman" pitchFamily="34" charset="0"/>
                <a:ea typeface="Times New Roman" pitchFamily="34" charset="-122"/>
                <a:cs typeface="Times New Roman" pitchFamily="34" charset="-120"/>
              </a:rPr>
              <a:t>Tổng</a:t>
            </a:r>
            <a:r>
              <a:rPr lang="en-US" sz="1500" dirty="0" smtClean="0">
                <a:solidFill>
                  <a:srgbClr val="1B2433"/>
                </a:solidFill>
                <a:latin typeface="Times New Roman" pitchFamily="34" charset="0"/>
                <a:ea typeface="Times New Roman" pitchFamily="34" charset="-122"/>
                <a:cs typeface="Times New Roman" pitchFamily="34" charset="-120"/>
              </a:rPr>
              <a:t> </a:t>
            </a:r>
            <a:r>
              <a:rPr lang="en-US" sz="1500" dirty="0" err="1" smtClean="0">
                <a:solidFill>
                  <a:srgbClr val="1B2433"/>
                </a:solidFill>
                <a:latin typeface="Times New Roman" pitchFamily="34" charset="0"/>
                <a:ea typeface="Times New Roman" pitchFamily="34" charset="-122"/>
                <a:cs typeface="Times New Roman" pitchFamily="34" charset="-120"/>
              </a:rPr>
              <a:t>quan</a:t>
            </a:r>
            <a:r>
              <a:rPr lang="en-US" sz="1500" dirty="0" smtClean="0">
                <a:solidFill>
                  <a:srgbClr val="1B2433"/>
                </a:solidFill>
                <a:latin typeface="Times New Roman" pitchFamily="34" charset="0"/>
                <a:ea typeface="Times New Roman" pitchFamily="34" charset="-122"/>
                <a:cs typeface="Times New Roman" pitchFamily="34" charset="-120"/>
              </a:rPr>
              <a:t> </a:t>
            </a:r>
            <a:r>
              <a:rPr lang="en-US" sz="1500" dirty="0">
                <a:solidFill>
                  <a:srgbClr val="1B2433"/>
                </a:solidFill>
                <a:latin typeface="Times New Roman" pitchFamily="34" charset="0"/>
                <a:ea typeface="Times New Roman" pitchFamily="34" charset="-122"/>
                <a:cs typeface="Times New Roman" pitchFamily="34" charset="-120"/>
              </a:rPr>
              <a:t>đề bài</a:t>
            </a:r>
            <a:endParaRPr lang="en-US" sz="1500" dirty="0"/>
          </a:p>
        </p:txBody>
      </p:sp>
      <p:sp>
        <p:nvSpPr>
          <p:cNvPr id="7" name="Shape 5"/>
          <p:cNvSpPr/>
          <p:nvPr/>
        </p:nvSpPr>
        <p:spPr>
          <a:xfrm>
            <a:off x="4334904" y="1844455"/>
            <a:ext cx="3522119" cy="0"/>
          </a:xfrm>
          <a:prstGeom prst="line">
            <a:avLst/>
          </a:prstGeom>
          <a:noFill/>
          <a:ln w="6350">
            <a:solidFill>
              <a:srgbClr val="D6D0C3"/>
            </a:solidFill>
            <a:prstDash val="solid"/>
          </a:ln>
        </p:spPr>
      </p:sp>
      <p:sp>
        <p:nvSpPr>
          <p:cNvPr id="8" name="Text 6"/>
          <p:cNvSpPr/>
          <p:nvPr/>
        </p:nvSpPr>
        <p:spPr>
          <a:xfrm>
            <a:off x="4334904" y="1960269"/>
            <a:ext cx="254015"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5482F"/>
                </a:solidFill>
                <a:latin typeface="Times New Roman" pitchFamily="34" charset="0"/>
                <a:ea typeface="Times New Roman" pitchFamily="34" charset="-122"/>
                <a:cs typeface="Times New Roman" pitchFamily="34" charset="-120"/>
              </a:rPr>
              <a:t>02</a:t>
            </a:r>
            <a:endParaRPr lang="en-US" sz="1600" dirty="0"/>
          </a:p>
        </p:txBody>
      </p:sp>
      <p:sp>
        <p:nvSpPr>
          <p:cNvPr id="9" name="Text 7"/>
          <p:cNvSpPr/>
          <p:nvPr/>
        </p:nvSpPr>
        <p:spPr>
          <a:xfrm>
            <a:off x="4665046" y="1974380"/>
            <a:ext cx="1643151" cy="29204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33"/>
                </a:solidFill>
                <a:latin typeface="Times New Roman" pitchFamily="34" charset="0"/>
                <a:ea typeface="Times New Roman" pitchFamily="34" charset="-122"/>
                <a:cs typeface="Times New Roman" pitchFamily="34" charset="-120"/>
              </a:rPr>
              <a:t>Phạm vi và ranh giới</a:t>
            </a:r>
            <a:endParaRPr lang="en-US" sz="1500" dirty="0"/>
          </a:p>
        </p:txBody>
      </p:sp>
      <p:sp>
        <p:nvSpPr>
          <p:cNvPr id="10" name="Shape 8"/>
          <p:cNvSpPr/>
          <p:nvPr/>
        </p:nvSpPr>
        <p:spPr>
          <a:xfrm>
            <a:off x="7857024" y="1844455"/>
            <a:ext cx="3522119" cy="0"/>
          </a:xfrm>
          <a:prstGeom prst="line">
            <a:avLst/>
          </a:prstGeom>
          <a:noFill/>
          <a:ln w="6350">
            <a:solidFill>
              <a:srgbClr val="D6D0C3"/>
            </a:solidFill>
            <a:prstDash val="solid"/>
          </a:ln>
        </p:spPr>
      </p:sp>
      <p:sp>
        <p:nvSpPr>
          <p:cNvPr id="11" name="Text 9"/>
          <p:cNvSpPr/>
          <p:nvPr/>
        </p:nvSpPr>
        <p:spPr>
          <a:xfrm>
            <a:off x="7857024" y="1960269"/>
            <a:ext cx="254015"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5482F"/>
                </a:solidFill>
                <a:latin typeface="Times New Roman" pitchFamily="34" charset="0"/>
                <a:ea typeface="Times New Roman" pitchFamily="34" charset="-122"/>
                <a:cs typeface="Times New Roman" pitchFamily="34" charset="-120"/>
              </a:rPr>
              <a:t>03</a:t>
            </a:r>
            <a:endParaRPr lang="en-US" sz="1600" dirty="0"/>
          </a:p>
        </p:txBody>
      </p:sp>
      <p:sp>
        <p:nvSpPr>
          <p:cNvPr id="12" name="Text 10"/>
          <p:cNvSpPr/>
          <p:nvPr/>
        </p:nvSpPr>
        <p:spPr>
          <a:xfrm>
            <a:off x="8187165" y="1974380"/>
            <a:ext cx="1473597" cy="29204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33"/>
                </a:solidFill>
                <a:latin typeface="Times New Roman" pitchFamily="34" charset="0"/>
                <a:ea typeface="Times New Roman" pitchFamily="34" charset="-122"/>
                <a:cs typeface="Times New Roman" pitchFamily="34" charset="-120"/>
              </a:rPr>
              <a:t>Kiến trúc hệ thống</a:t>
            </a:r>
            <a:endParaRPr lang="en-US" sz="1500" dirty="0"/>
          </a:p>
        </p:txBody>
      </p:sp>
      <p:sp>
        <p:nvSpPr>
          <p:cNvPr id="13" name="Shape 11"/>
          <p:cNvSpPr/>
          <p:nvPr/>
        </p:nvSpPr>
        <p:spPr>
          <a:xfrm>
            <a:off x="812785" y="2247945"/>
            <a:ext cx="3522119" cy="0"/>
          </a:xfrm>
          <a:prstGeom prst="line">
            <a:avLst/>
          </a:prstGeom>
          <a:noFill/>
          <a:ln w="6350">
            <a:solidFill>
              <a:srgbClr val="D6D0C3"/>
            </a:solidFill>
            <a:prstDash val="solid"/>
          </a:ln>
        </p:spPr>
      </p:sp>
      <p:sp>
        <p:nvSpPr>
          <p:cNvPr id="14" name="Text 12"/>
          <p:cNvSpPr/>
          <p:nvPr/>
        </p:nvSpPr>
        <p:spPr>
          <a:xfrm>
            <a:off x="812785" y="2363759"/>
            <a:ext cx="254015"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5482F"/>
                </a:solidFill>
                <a:latin typeface="Times New Roman" pitchFamily="34" charset="0"/>
                <a:ea typeface="Times New Roman" pitchFamily="34" charset="-122"/>
                <a:cs typeface="Times New Roman" pitchFamily="34" charset="-120"/>
              </a:rPr>
              <a:t>04</a:t>
            </a:r>
            <a:endParaRPr lang="en-US" sz="1600" dirty="0"/>
          </a:p>
        </p:txBody>
      </p:sp>
      <p:sp>
        <p:nvSpPr>
          <p:cNvPr id="15" name="Text 13"/>
          <p:cNvSpPr/>
          <p:nvPr/>
        </p:nvSpPr>
        <p:spPr>
          <a:xfrm>
            <a:off x="1142927" y="2377870"/>
            <a:ext cx="1280892" cy="29204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33"/>
                </a:solidFill>
                <a:latin typeface="Times New Roman" pitchFamily="34" charset="0"/>
                <a:ea typeface="Times New Roman" pitchFamily="34" charset="-122"/>
                <a:cs typeface="Times New Roman" pitchFamily="34" charset="-120"/>
              </a:rPr>
              <a:t>Mô hình dữ liệu</a:t>
            </a:r>
            <a:endParaRPr lang="en-US" sz="1500" dirty="0"/>
          </a:p>
        </p:txBody>
      </p:sp>
      <p:sp>
        <p:nvSpPr>
          <p:cNvPr id="16" name="Shape 14"/>
          <p:cNvSpPr/>
          <p:nvPr/>
        </p:nvSpPr>
        <p:spPr>
          <a:xfrm>
            <a:off x="4334904" y="2247945"/>
            <a:ext cx="3522119" cy="0"/>
          </a:xfrm>
          <a:prstGeom prst="line">
            <a:avLst/>
          </a:prstGeom>
          <a:noFill/>
          <a:ln w="6350">
            <a:solidFill>
              <a:srgbClr val="D6D0C3"/>
            </a:solidFill>
            <a:prstDash val="solid"/>
          </a:ln>
        </p:spPr>
      </p:sp>
      <p:sp>
        <p:nvSpPr>
          <p:cNvPr id="17" name="Text 15"/>
          <p:cNvSpPr/>
          <p:nvPr/>
        </p:nvSpPr>
        <p:spPr>
          <a:xfrm>
            <a:off x="4334904" y="2363759"/>
            <a:ext cx="254015"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5482F"/>
                </a:solidFill>
                <a:latin typeface="Times New Roman" pitchFamily="34" charset="0"/>
                <a:ea typeface="Times New Roman" pitchFamily="34" charset="-122"/>
                <a:cs typeface="Times New Roman" pitchFamily="34" charset="-120"/>
              </a:rPr>
              <a:t>05</a:t>
            </a:r>
            <a:endParaRPr lang="en-US" sz="1600" dirty="0"/>
          </a:p>
        </p:txBody>
      </p:sp>
      <p:sp>
        <p:nvSpPr>
          <p:cNvPr id="18" name="Text 16"/>
          <p:cNvSpPr/>
          <p:nvPr/>
        </p:nvSpPr>
        <p:spPr>
          <a:xfrm>
            <a:off x="4665046" y="2377870"/>
            <a:ext cx="1550547" cy="29204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33"/>
                </a:solidFill>
                <a:latin typeface="Times New Roman" pitchFamily="34" charset="0"/>
                <a:ea typeface="Times New Roman" pitchFamily="34" charset="-122"/>
                <a:cs typeface="Times New Roman" pitchFamily="34" charset="-120"/>
              </a:rPr>
              <a:t>Cam kết chất lượng</a:t>
            </a:r>
            <a:endParaRPr lang="en-US" sz="1500" dirty="0"/>
          </a:p>
        </p:txBody>
      </p:sp>
      <p:sp>
        <p:nvSpPr>
          <p:cNvPr id="19" name="Shape 17"/>
          <p:cNvSpPr/>
          <p:nvPr/>
        </p:nvSpPr>
        <p:spPr>
          <a:xfrm>
            <a:off x="7857024" y="2247945"/>
            <a:ext cx="3522119" cy="0"/>
          </a:xfrm>
          <a:prstGeom prst="line">
            <a:avLst/>
          </a:prstGeom>
          <a:noFill/>
          <a:ln w="6350">
            <a:solidFill>
              <a:srgbClr val="D6D0C3"/>
            </a:solidFill>
            <a:prstDash val="solid"/>
          </a:ln>
        </p:spPr>
      </p:sp>
      <p:sp>
        <p:nvSpPr>
          <p:cNvPr id="20" name="Text 18"/>
          <p:cNvSpPr/>
          <p:nvPr/>
        </p:nvSpPr>
        <p:spPr>
          <a:xfrm>
            <a:off x="7857024" y="2363759"/>
            <a:ext cx="254015"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5482F"/>
                </a:solidFill>
                <a:latin typeface="Times New Roman" pitchFamily="34" charset="0"/>
                <a:ea typeface="Times New Roman" pitchFamily="34" charset="-122"/>
                <a:cs typeface="Times New Roman" pitchFamily="34" charset="-120"/>
              </a:rPr>
              <a:t>06</a:t>
            </a:r>
            <a:endParaRPr lang="en-US" sz="1600" dirty="0"/>
          </a:p>
        </p:txBody>
      </p:sp>
      <p:sp>
        <p:nvSpPr>
          <p:cNvPr id="21" name="Text 19"/>
          <p:cNvSpPr/>
          <p:nvPr/>
        </p:nvSpPr>
        <p:spPr>
          <a:xfrm>
            <a:off x="8187165" y="2377870"/>
            <a:ext cx="1488149" cy="29204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33"/>
                </a:solidFill>
                <a:latin typeface="Times New Roman" pitchFamily="34" charset="0"/>
                <a:ea typeface="Times New Roman" pitchFamily="34" charset="-122"/>
                <a:cs typeface="Times New Roman" pitchFamily="34" charset="-120"/>
              </a:rPr>
              <a:t>Tiến độ theo sprint</a:t>
            </a:r>
            <a:endParaRPr lang="en-US" sz="1500" dirty="0"/>
          </a:p>
        </p:txBody>
      </p:sp>
      <p:sp>
        <p:nvSpPr>
          <p:cNvPr id="22" name="Shape 20"/>
          <p:cNvSpPr/>
          <p:nvPr/>
        </p:nvSpPr>
        <p:spPr>
          <a:xfrm>
            <a:off x="812785" y="2651434"/>
            <a:ext cx="3522119" cy="0"/>
          </a:xfrm>
          <a:prstGeom prst="line">
            <a:avLst/>
          </a:prstGeom>
          <a:noFill/>
          <a:ln w="6350">
            <a:solidFill>
              <a:srgbClr val="D6D0C3"/>
            </a:solidFill>
            <a:prstDash val="solid"/>
          </a:ln>
        </p:spPr>
      </p:sp>
      <p:sp>
        <p:nvSpPr>
          <p:cNvPr id="23" name="Text 21"/>
          <p:cNvSpPr/>
          <p:nvPr/>
        </p:nvSpPr>
        <p:spPr>
          <a:xfrm>
            <a:off x="812785" y="2767248"/>
            <a:ext cx="254015"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5482F"/>
                </a:solidFill>
                <a:latin typeface="Times New Roman" pitchFamily="34" charset="0"/>
                <a:ea typeface="Times New Roman" pitchFamily="34" charset="-122"/>
                <a:cs typeface="Times New Roman" pitchFamily="34" charset="-120"/>
              </a:rPr>
              <a:t>07</a:t>
            </a:r>
            <a:endParaRPr lang="en-US" sz="1600" dirty="0"/>
          </a:p>
        </p:txBody>
      </p:sp>
      <p:sp>
        <p:nvSpPr>
          <p:cNvPr id="24" name="Text 22"/>
          <p:cNvSpPr/>
          <p:nvPr/>
        </p:nvSpPr>
        <p:spPr>
          <a:xfrm>
            <a:off x="1142927" y="2781360"/>
            <a:ext cx="1611033" cy="29204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33"/>
                </a:solidFill>
                <a:latin typeface="Times New Roman" pitchFamily="34" charset="0"/>
                <a:ea typeface="Times New Roman" pitchFamily="34" charset="-122"/>
                <a:cs typeface="Times New Roman" pitchFamily="34" charset="-120"/>
              </a:rPr>
              <a:t>Tổ chức và năng lực</a:t>
            </a:r>
            <a:endParaRPr lang="en-US" sz="1500" dirty="0"/>
          </a:p>
        </p:txBody>
      </p:sp>
      <p:sp>
        <p:nvSpPr>
          <p:cNvPr id="25" name="Shape 23"/>
          <p:cNvSpPr/>
          <p:nvPr/>
        </p:nvSpPr>
        <p:spPr>
          <a:xfrm>
            <a:off x="4334904" y="2651434"/>
            <a:ext cx="3522119" cy="0"/>
          </a:xfrm>
          <a:prstGeom prst="line">
            <a:avLst/>
          </a:prstGeom>
          <a:noFill/>
          <a:ln w="6350">
            <a:solidFill>
              <a:srgbClr val="D6D0C3"/>
            </a:solidFill>
            <a:prstDash val="solid"/>
          </a:ln>
        </p:spPr>
      </p:sp>
      <p:sp>
        <p:nvSpPr>
          <p:cNvPr id="26" name="Text 24"/>
          <p:cNvSpPr/>
          <p:nvPr/>
        </p:nvSpPr>
        <p:spPr>
          <a:xfrm>
            <a:off x="4334904" y="2767248"/>
            <a:ext cx="254015"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5482F"/>
                </a:solidFill>
                <a:latin typeface="Times New Roman" pitchFamily="34" charset="0"/>
                <a:ea typeface="Times New Roman" pitchFamily="34" charset="-122"/>
                <a:cs typeface="Times New Roman" pitchFamily="34" charset="-120"/>
              </a:rPr>
              <a:t>08</a:t>
            </a:r>
            <a:endParaRPr lang="en-US" sz="1600" dirty="0"/>
          </a:p>
        </p:txBody>
      </p:sp>
      <p:sp>
        <p:nvSpPr>
          <p:cNvPr id="27" name="Text 25"/>
          <p:cNvSpPr/>
          <p:nvPr/>
        </p:nvSpPr>
        <p:spPr>
          <a:xfrm>
            <a:off x="4665046" y="2781360"/>
            <a:ext cx="1700918" cy="29204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33"/>
                </a:solidFill>
                <a:latin typeface="Times New Roman" pitchFamily="34" charset="0"/>
                <a:ea typeface="Times New Roman" pitchFamily="34" charset="-122"/>
                <a:cs typeface="Times New Roman" pitchFamily="34" charset="-120"/>
              </a:rPr>
              <a:t>Bàn giao và bảo hành</a:t>
            </a:r>
            <a:endParaRPr lang="en-US" sz="1500" dirty="0"/>
          </a:p>
        </p:txBody>
      </p:sp>
      <p:sp>
        <p:nvSpPr>
          <p:cNvPr id="28" name="Shape 26"/>
          <p:cNvSpPr/>
          <p:nvPr/>
        </p:nvSpPr>
        <p:spPr>
          <a:xfrm>
            <a:off x="7857024" y="2651434"/>
            <a:ext cx="3522119" cy="0"/>
          </a:xfrm>
          <a:prstGeom prst="line">
            <a:avLst/>
          </a:prstGeom>
          <a:noFill/>
          <a:ln w="6350">
            <a:solidFill>
              <a:srgbClr val="D6D0C3"/>
            </a:solidFill>
            <a:prstDash val="solid"/>
          </a:ln>
        </p:spPr>
      </p:sp>
      <p:sp>
        <p:nvSpPr>
          <p:cNvPr id="29" name="Text 27"/>
          <p:cNvSpPr/>
          <p:nvPr/>
        </p:nvSpPr>
        <p:spPr>
          <a:xfrm>
            <a:off x="7857024" y="2767248"/>
            <a:ext cx="254015"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5482F"/>
                </a:solidFill>
                <a:latin typeface="Times New Roman" pitchFamily="34" charset="0"/>
                <a:ea typeface="Times New Roman" pitchFamily="34" charset="-122"/>
                <a:cs typeface="Times New Roman" pitchFamily="34" charset="-120"/>
              </a:rPr>
              <a:t>09</a:t>
            </a:r>
            <a:endParaRPr lang="en-US" sz="1600" dirty="0"/>
          </a:p>
        </p:txBody>
      </p:sp>
      <p:sp>
        <p:nvSpPr>
          <p:cNvPr id="30" name="Text 28"/>
          <p:cNvSpPr/>
          <p:nvPr/>
        </p:nvSpPr>
        <p:spPr>
          <a:xfrm>
            <a:off x="8187165" y="2781360"/>
            <a:ext cx="1124494" cy="29204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33"/>
                </a:solidFill>
                <a:latin typeface="Times New Roman" pitchFamily="34" charset="0"/>
                <a:ea typeface="Times New Roman" pitchFamily="34" charset="-122"/>
                <a:cs typeface="Times New Roman" pitchFamily="34" charset="-120"/>
              </a:rPr>
              <a:t>Giá và chi phí</a:t>
            </a:r>
            <a:endParaRPr lang="en-US" sz="1500" dirty="0"/>
          </a:p>
        </p:txBody>
      </p:sp>
      <p:sp>
        <p:nvSpPr>
          <p:cNvPr id="31" name="Shape 29"/>
          <p:cNvSpPr/>
          <p:nvPr/>
        </p:nvSpPr>
        <p:spPr>
          <a:xfrm>
            <a:off x="812785" y="3054924"/>
            <a:ext cx="3522119" cy="0"/>
          </a:xfrm>
          <a:prstGeom prst="line">
            <a:avLst/>
          </a:prstGeom>
          <a:noFill/>
          <a:ln w="6350">
            <a:solidFill>
              <a:srgbClr val="D6D0C3"/>
            </a:solidFill>
            <a:prstDash val="solid"/>
          </a:ln>
        </p:spPr>
      </p:sp>
      <p:sp>
        <p:nvSpPr>
          <p:cNvPr id="32" name="Text 30"/>
          <p:cNvSpPr/>
          <p:nvPr/>
        </p:nvSpPr>
        <p:spPr>
          <a:xfrm>
            <a:off x="812785" y="3170738"/>
            <a:ext cx="254015"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5482F"/>
                </a:solidFill>
                <a:latin typeface="Times New Roman" pitchFamily="34" charset="0"/>
                <a:ea typeface="Times New Roman" pitchFamily="34" charset="-122"/>
                <a:cs typeface="Times New Roman" pitchFamily="34" charset="-120"/>
              </a:rPr>
              <a:t>10</a:t>
            </a:r>
            <a:endParaRPr lang="en-US" sz="1600" dirty="0"/>
          </a:p>
        </p:txBody>
      </p:sp>
      <p:sp>
        <p:nvSpPr>
          <p:cNvPr id="33" name="Text 31"/>
          <p:cNvSpPr/>
          <p:nvPr/>
        </p:nvSpPr>
        <p:spPr>
          <a:xfrm>
            <a:off x="1142927" y="3184849"/>
            <a:ext cx="1563849" cy="29204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33"/>
                </a:solidFill>
                <a:latin typeface="Times New Roman" pitchFamily="34" charset="0"/>
                <a:ea typeface="Times New Roman" pitchFamily="34" charset="-122"/>
                <a:cs typeface="Times New Roman" pitchFamily="34" charset="-120"/>
              </a:rPr>
              <a:t>Điều kiện hợp đồng</a:t>
            </a:r>
            <a:endParaRPr lang="en-US" sz="1500" dirty="0"/>
          </a:p>
        </p:txBody>
      </p:sp>
      <p:sp>
        <p:nvSpPr>
          <p:cNvPr id="34" name="Shape 32"/>
          <p:cNvSpPr/>
          <p:nvPr/>
        </p:nvSpPr>
        <p:spPr>
          <a:xfrm>
            <a:off x="4334904" y="3054924"/>
            <a:ext cx="3522119" cy="0"/>
          </a:xfrm>
          <a:prstGeom prst="line">
            <a:avLst/>
          </a:prstGeom>
          <a:noFill/>
          <a:ln w="6350">
            <a:solidFill>
              <a:srgbClr val="D6D0C3"/>
            </a:solidFill>
            <a:prstDash val="solid"/>
          </a:ln>
        </p:spPr>
      </p:sp>
      <p:sp>
        <p:nvSpPr>
          <p:cNvPr id="35" name="Text 33"/>
          <p:cNvSpPr/>
          <p:nvPr/>
        </p:nvSpPr>
        <p:spPr>
          <a:xfrm>
            <a:off x="4334904" y="3170738"/>
            <a:ext cx="242770"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5482F"/>
                </a:solidFill>
                <a:latin typeface="Times New Roman" pitchFamily="34" charset="0"/>
                <a:ea typeface="Times New Roman" pitchFamily="34" charset="-122"/>
                <a:cs typeface="Times New Roman" pitchFamily="34" charset="-120"/>
              </a:rPr>
              <a:t>11</a:t>
            </a:r>
            <a:endParaRPr lang="en-US" sz="1600" dirty="0"/>
          </a:p>
        </p:txBody>
      </p:sp>
      <p:sp>
        <p:nvSpPr>
          <p:cNvPr id="36" name="Text 34"/>
          <p:cNvSpPr/>
          <p:nvPr/>
        </p:nvSpPr>
        <p:spPr>
          <a:xfrm>
            <a:off x="4653801" y="3184849"/>
            <a:ext cx="1373202" cy="29204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33"/>
                </a:solidFill>
                <a:latin typeface="Times New Roman" pitchFamily="34" charset="0"/>
                <a:ea typeface="Times New Roman" pitchFamily="34" charset="-122"/>
                <a:cs typeface="Times New Roman" pitchFamily="34" charset="-120"/>
              </a:rPr>
              <a:t>Rủi ro và đề nghị</a:t>
            </a:r>
            <a:endParaRPr lang="en-US" sz="1500" dirty="0"/>
          </a:p>
        </p:txBody>
      </p:sp>
      <p:sp>
        <p:nvSpPr>
          <p:cNvPr id="37" name="Text 35"/>
          <p:cNvSpPr/>
          <p:nvPr/>
        </p:nvSpPr>
        <p:spPr>
          <a:xfrm>
            <a:off x="812785" y="6238215"/>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Times New Roman" pitchFamily="34" charset="0"/>
                <a:ea typeface="Times New Roman" pitchFamily="34" charset="-122"/>
                <a:cs typeface="Times New Roman" pitchFamily="34" charset="-120"/>
              </a:rPr>
              <a:t>Công ty TNHH Group 6 · Đề xuất website thương mại điện tử ABC Wear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85" y="812786"/>
            <a:ext cx="10883348" cy="256469"/>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5482F"/>
                </a:solidFill>
                <a:latin typeface="Times New Roman" pitchFamily="34" charset="0"/>
                <a:ea typeface="Times New Roman" pitchFamily="34" charset="-122"/>
                <a:cs typeface="Times New Roman" pitchFamily="34" charset="-120"/>
              </a:rPr>
              <a:t>01 · CÁCH ĐỌC ĐỀ BÀI</a:t>
            </a:r>
            <a:endParaRPr lang="en-US" sz="1300" dirty="0"/>
          </a:p>
        </p:txBody>
      </p:sp>
      <p:sp>
        <p:nvSpPr>
          <p:cNvPr id="3" name="Text 1"/>
          <p:cNvSpPr/>
          <p:nvPr/>
        </p:nvSpPr>
        <p:spPr>
          <a:xfrm>
            <a:off x="812785" y="1119997"/>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B2433"/>
                </a:solidFill>
                <a:latin typeface="Times New Roman" pitchFamily="34" charset="0"/>
                <a:ea typeface="Times New Roman" pitchFamily="34" charset="-122"/>
                <a:cs typeface="Times New Roman" pitchFamily="34" charset="-120"/>
              </a:rPr>
              <a:t>Cách chúng tôi đọc đề bài</a:t>
            </a:r>
            <a:endParaRPr lang="en-US" sz="3200" dirty="0"/>
          </a:p>
        </p:txBody>
      </p:sp>
      <p:sp>
        <p:nvSpPr>
          <p:cNvPr id="4" name="Shape 2"/>
          <p:cNvSpPr/>
          <p:nvPr/>
        </p:nvSpPr>
        <p:spPr>
          <a:xfrm>
            <a:off x="812785" y="1841280"/>
            <a:ext cx="3386667" cy="2652595"/>
          </a:xfrm>
          <a:prstGeom prst="roundRect">
            <a:avLst>
              <a:gd name="adj" fmla="val 3830"/>
            </a:avLst>
          </a:prstGeom>
          <a:solidFill>
            <a:srgbClr val="ECE8DF"/>
          </a:solidFill>
          <a:ln/>
        </p:spPr>
      </p:sp>
      <p:sp>
        <p:nvSpPr>
          <p:cNvPr id="5" name="Text 3"/>
          <p:cNvSpPr/>
          <p:nvPr/>
        </p:nvSpPr>
        <p:spPr>
          <a:xfrm>
            <a:off x="1066712" y="2095207"/>
            <a:ext cx="2965178"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1B2433"/>
                </a:solidFill>
                <a:latin typeface="Times New Roman" pitchFamily="34" charset="0"/>
                <a:ea typeface="Times New Roman" pitchFamily="34" charset="-122"/>
                <a:cs typeface="Times New Roman" pitchFamily="34" charset="-120"/>
              </a:rPr>
              <a:t>22</a:t>
            </a:r>
            <a:endParaRPr lang="en-US" sz="8000" dirty="0"/>
          </a:p>
        </p:txBody>
      </p:sp>
      <p:sp>
        <p:nvSpPr>
          <p:cNvPr id="6" name="Text 4"/>
          <p:cNvSpPr/>
          <p:nvPr/>
        </p:nvSpPr>
        <p:spPr>
          <a:xfrm>
            <a:off x="1066712" y="3187348"/>
            <a:ext cx="2965178" cy="539721"/>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B2433"/>
                </a:solidFill>
                <a:latin typeface="Times New Roman" pitchFamily="34" charset="0"/>
                <a:ea typeface="Times New Roman" pitchFamily="34" charset="-122"/>
                <a:cs typeface="Times New Roman" pitchFamily="34" charset="-120"/>
              </a:rPr>
              <a:t>yêu cầu RFP được mã hóa R01–R22</a:t>
            </a:r>
            <a:endParaRPr lang="en-US" sz="1500" dirty="0"/>
          </a:p>
        </p:txBody>
      </p:sp>
      <p:sp>
        <p:nvSpPr>
          <p:cNvPr id="7" name="Text 5"/>
          <p:cNvSpPr/>
          <p:nvPr/>
        </p:nvSpPr>
        <p:spPr>
          <a:xfrm>
            <a:off x="1066712" y="3777810"/>
            <a:ext cx="2965178"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3"/>
                </a:solidFill>
                <a:latin typeface="Times New Roman" pitchFamily="34" charset="0"/>
                <a:ea typeface="Times New Roman" pitchFamily="34" charset="-122"/>
                <a:cs typeface="Times New Roman" pitchFamily="34" charset="-120"/>
              </a:rPr>
              <a:t>Khớp đúng mã tại Phụ lục A của hồ sơ mời thầu.</a:t>
            </a:r>
            <a:endParaRPr lang="en-US" sz="1300" dirty="0"/>
          </a:p>
        </p:txBody>
      </p:sp>
      <p:sp>
        <p:nvSpPr>
          <p:cNvPr id="8" name="Shape 6"/>
          <p:cNvSpPr/>
          <p:nvPr/>
        </p:nvSpPr>
        <p:spPr>
          <a:xfrm>
            <a:off x="4402594" y="1841280"/>
            <a:ext cx="3386741" cy="2652595"/>
          </a:xfrm>
          <a:prstGeom prst="roundRect">
            <a:avLst>
              <a:gd name="adj" fmla="val 3830"/>
            </a:avLst>
          </a:prstGeom>
          <a:solidFill>
            <a:srgbClr val="ECE8DF"/>
          </a:solidFill>
          <a:ln/>
        </p:spPr>
      </p:sp>
      <p:sp>
        <p:nvSpPr>
          <p:cNvPr id="9" name="Text 7"/>
          <p:cNvSpPr/>
          <p:nvPr/>
        </p:nvSpPr>
        <p:spPr>
          <a:xfrm>
            <a:off x="4656520" y="2095207"/>
            <a:ext cx="2965254"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2F5D8C"/>
                </a:solidFill>
                <a:latin typeface="Times New Roman" pitchFamily="34" charset="0"/>
                <a:ea typeface="Times New Roman" pitchFamily="34" charset="-122"/>
                <a:cs typeface="Times New Roman" pitchFamily="34" charset="-120"/>
              </a:rPr>
              <a:t>19</a:t>
            </a:r>
            <a:endParaRPr lang="en-US" sz="8000" dirty="0"/>
          </a:p>
        </p:txBody>
      </p:sp>
      <p:sp>
        <p:nvSpPr>
          <p:cNvPr id="10" name="Text 8"/>
          <p:cNvSpPr/>
          <p:nvPr/>
        </p:nvSpPr>
        <p:spPr>
          <a:xfrm>
            <a:off x="4656520" y="3187348"/>
            <a:ext cx="2965254" cy="28256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B2433"/>
                </a:solidFill>
                <a:latin typeface="Times New Roman" pitchFamily="34" charset="0"/>
                <a:ea typeface="Times New Roman" pitchFamily="34" charset="-122"/>
                <a:cs typeface="Times New Roman" pitchFamily="34" charset="-120"/>
              </a:rPr>
              <a:t>yêu cầu đáp ứng</a:t>
            </a:r>
            <a:endParaRPr lang="en-US" sz="1500" dirty="0"/>
          </a:p>
        </p:txBody>
      </p:sp>
      <p:sp>
        <p:nvSpPr>
          <p:cNvPr id="11" name="Text 9"/>
          <p:cNvSpPr/>
          <p:nvPr/>
        </p:nvSpPr>
        <p:spPr>
          <a:xfrm>
            <a:off x="4656520" y="3520650"/>
            <a:ext cx="2965254"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3"/>
                </a:solidFill>
                <a:latin typeface="Times New Roman" pitchFamily="34" charset="0"/>
                <a:ea typeface="Times New Roman" pitchFamily="34" charset="-122"/>
                <a:cs typeface="Times New Roman" pitchFamily="34" charset="-120"/>
              </a:rPr>
              <a:t>Mỗi yêu cầu có vị trí bằng chứng trong hồ sơ dự thầu.</a:t>
            </a:r>
            <a:endParaRPr lang="en-US" sz="1300" dirty="0"/>
          </a:p>
        </p:txBody>
      </p:sp>
      <p:sp>
        <p:nvSpPr>
          <p:cNvPr id="12" name="Shape 10"/>
          <p:cNvSpPr/>
          <p:nvPr/>
        </p:nvSpPr>
        <p:spPr>
          <a:xfrm>
            <a:off x="7992476" y="1841280"/>
            <a:ext cx="3386667" cy="2652595"/>
          </a:xfrm>
          <a:prstGeom prst="roundRect">
            <a:avLst>
              <a:gd name="adj" fmla="val 3830"/>
            </a:avLst>
          </a:prstGeom>
          <a:solidFill>
            <a:srgbClr val="ECE8DF"/>
          </a:solidFill>
          <a:ln/>
        </p:spPr>
      </p:sp>
      <p:sp>
        <p:nvSpPr>
          <p:cNvPr id="13" name="Text 11"/>
          <p:cNvSpPr/>
          <p:nvPr/>
        </p:nvSpPr>
        <p:spPr>
          <a:xfrm>
            <a:off x="8246402" y="2095207"/>
            <a:ext cx="2965178"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B5482F"/>
                </a:solidFill>
                <a:latin typeface="Times New Roman" pitchFamily="34" charset="0"/>
                <a:ea typeface="Times New Roman" pitchFamily="34" charset="-122"/>
                <a:cs typeface="Times New Roman" pitchFamily="34" charset="-120"/>
              </a:rPr>
              <a:t>3</a:t>
            </a:r>
            <a:endParaRPr lang="en-US" sz="8000" dirty="0"/>
          </a:p>
        </p:txBody>
      </p:sp>
      <p:sp>
        <p:nvSpPr>
          <p:cNvPr id="14" name="Text 12"/>
          <p:cNvSpPr/>
          <p:nvPr/>
        </p:nvSpPr>
        <p:spPr>
          <a:xfrm>
            <a:off x="8246402" y="3187348"/>
            <a:ext cx="2965178" cy="28256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1B2433"/>
                </a:solidFill>
                <a:latin typeface="Times New Roman" pitchFamily="34" charset="0"/>
                <a:ea typeface="Times New Roman" pitchFamily="34" charset="-122"/>
                <a:cs typeface="Times New Roman" pitchFamily="34" charset="-120"/>
              </a:rPr>
              <a:t>ghi là đề nghị làm rõ</a:t>
            </a:r>
            <a:endParaRPr lang="en-US" sz="1500" dirty="0"/>
          </a:p>
        </p:txBody>
      </p:sp>
      <p:sp>
        <p:nvSpPr>
          <p:cNvPr id="15" name="Text 13"/>
          <p:cNvSpPr/>
          <p:nvPr/>
        </p:nvSpPr>
        <p:spPr>
          <a:xfrm>
            <a:off x="8246402" y="3520650"/>
            <a:ext cx="2965178"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3"/>
                </a:solidFill>
                <a:latin typeface="Times New Roman" pitchFamily="34" charset="0"/>
                <a:ea typeface="Times New Roman" pitchFamily="34" charset="-122"/>
                <a:cs typeface="Times New Roman" pitchFamily="34" charset="-120"/>
              </a:rPr>
              <a:t>R10 cách nộp hồ sơ · R13 tên bên B · R22 bốn khung đặc tả còn trống.</a:t>
            </a:r>
            <a:endParaRPr lang="en-US" sz="1300" dirty="0"/>
          </a:p>
        </p:txBody>
      </p:sp>
      <p:sp>
        <p:nvSpPr>
          <p:cNvPr id="16" name="Text 14"/>
          <p:cNvSpPr/>
          <p:nvPr/>
        </p:nvSpPr>
        <p:spPr>
          <a:xfrm>
            <a:off x="812785" y="4747802"/>
            <a:ext cx="10883348" cy="309901"/>
          </a:xfrm>
          <a:prstGeom prst="rect">
            <a:avLst/>
          </a:prstGeom>
          <a:noFill/>
          <a:ln/>
        </p:spPr>
        <p:txBody>
          <a:bodyPr wrap="square" lIns="0" tIns="0" rIns="0" bIns="0" rtlCol="0" anchor="t">
            <a:normAutofit/>
          </a:bodyPr>
          <a:lstStyle/>
          <a:p>
            <a:pPr marL="0" indent="0" algn="l">
              <a:lnSpc>
                <a:spcPts val="2240"/>
              </a:lnSpc>
              <a:buNone/>
            </a:pPr>
            <a:r>
              <a:rPr lang="en-US" sz="1600" i="1" dirty="0">
                <a:solidFill>
                  <a:srgbClr val="4A5263"/>
                </a:solidFill>
                <a:latin typeface="Times New Roman" pitchFamily="34" charset="0"/>
                <a:ea typeface="Times New Roman" pitchFamily="34" charset="-122"/>
                <a:cs typeface="Times New Roman" pitchFamily="34" charset="-120"/>
              </a:rPr>
              <a:t>Một hồ sơ nói đáp ứng mọi thứ thường là hồ sơ chưa đọc kỹ.</a:t>
            </a:r>
            <a:endParaRPr lang="en-US" sz="1600" dirty="0"/>
          </a:p>
        </p:txBody>
      </p:sp>
      <p:sp>
        <p:nvSpPr>
          <p:cNvPr id="17" name="Text 15"/>
          <p:cNvSpPr/>
          <p:nvPr/>
        </p:nvSpPr>
        <p:spPr>
          <a:xfrm>
            <a:off x="812785" y="6238215"/>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Times New Roman" pitchFamily="34" charset="0"/>
                <a:ea typeface="Times New Roman" pitchFamily="34" charset="-122"/>
                <a:cs typeface="Times New Roman" pitchFamily="34" charset="-120"/>
              </a:rPr>
              <a:t>Công ty TNHH Group 6 · Đề xuất website thương mại điện tử ABC Wear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85" y="812786"/>
            <a:ext cx="10883348" cy="256469"/>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5482F"/>
                </a:solidFill>
                <a:latin typeface="Times New Roman" pitchFamily="34" charset="0"/>
                <a:ea typeface="Times New Roman" pitchFamily="34" charset="-122"/>
                <a:cs typeface="Times New Roman" pitchFamily="34" charset="-120"/>
              </a:rPr>
              <a:t>02 · PHẠM VI VÀ RANH GIỚI</a:t>
            </a:r>
            <a:endParaRPr lang="en-US" sz="1300" dirty="0"/>
          </a:p>
        </p:txBody>
      </p:sp>
      <p:sp>
        <p:nvSpPr>
          <p:cNvPr id="3" name="Text 1"/>
          <p:cNvSpPr/>
          <p:nvPr/>
        </p:nvSpPr>
        <p:spPr>
          <a:xfrm>
            <a:off x="812785" y="1119997"/>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B2433"/>
                </a:solidFill>
                <a:latin typeface="Times New Roman" pitchFamily="34" charset="0"/>
                <a:ea typeface="Times New Roman" pitchFamily="34" charset="-122"/>
                <a:cs typeface="Times New Roman" pitchFamily="34" charset="-120"/>
              </a:rPr>
              <a:t>Phạm vi và ranh giới</a:t>
            </a:r>
            <a:endParaRPr lang="en-US" sz="3200" dirty="0"/>
          </a:p>
        </p:txBody>
      </p:sp>
      <p:sp>
        <p:nvSpPr>
          <p:cNvPr id="4" name="Shape 2"/>
          <p:cNvSpPr/>
          <p:nvPr/>
        </p:nvSpPr>
        <p:spPr>
          <a:xfrm>
            <a:off x="812785" y="1841280"/>
            <a:ext cx="5172164" cy="2361260"/>
          </a:xfrm>
          <a:prstGeom prst="roundRect">
            <a:avLst>
              <a:gd name="adj" fmla="val 4303"/>
            </a:avLst>
          </a:prstGeom>
          <a:solidFill>
            <a:srgbClr val="ECE8DF"/>
          </a:solidFill>
          <a:ln/>
        </p:spPr>
      </p:sp>
      <p:sp>
        <p:nvSpPr>
          <p:cNvPr id="5" name="Shape 3"/>
          <p:cNvSpPr/>
          <p:nvPr/>
        </p:nvSpPr>
        <p:spPr>
          <a:xfrm>
            <a:off x="812785" y="1841280"/>
            <a:ext cx="5172164" cy="2361260"/>
          </a:xfrm>
          <a:custGeom>
            <a:avLst/>
            <a:gdLst/>
            <a:ahLst/>
            <a:cxnLst/>
            <a:rect l="l" t="t" r="r" b="b"/>
            <a:pathLst>
              <a:path w="5172164" h="2361260">
                <a:moveTo>
                  <a:pt x="0" y="101600"/>
                </a:moveTo>
                <a:lnTo>
                  <a:pt x="0" y="101600"/>
                </a:lnTo>
                <a:arcTo wR="101600" hR="101600" stAng="10800000" swAng="5400000"/>
                <a:lnTo>
                  <a:pt x="5070564" y="0"/>
                </a:lnTo>
                <a:arcTo wR="101600" hR="101600" stAng="16200000" swAng="5400000"/>
                <a:lnTo>
                  <a:pt x="5172164" y="101600"/>
                </a:lnTo>
                <a:arcTo wR="101600" hR="63500" stAng="0" swAng="-5400000"/>
                <a:lnTo>
                  <a:pt x="101600" y="38100"/>
                </a:lnTo>
                <a:arcTo wR="101600" hR="63500" stAng="16200000" swAng="-5400000"/>
                <a:close/>
              </a:path>
            </a:pathLst>
          </a:custGeom>
          <a:solidFill>
            <a:srgbClr val="2F5D8C"/>
          </a:solidFill>
          <a:ln/>
        </p:spPr>
      </p:sp>
      <p:sp>
        <p:nvSpPr>
          <p:cNvPr id="6" name="Text 4"/>
          <p:cNvSpPr/>
          <p:nvPr/>
        </p:nvSpPr>
        <p:spPr>
          <a:xfrm>
            <a:off x="1041356" y="2107481"/>
            <a:ext cx="4856473" cy="28447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F5D8C"/>
                </a:solidFill>
                <a:latin typeface="Times New Roman" pitchFamily="34" charset="0"/>
                <a:ea typeface="Times New Roman" pitchFamily="34" charset="-122"/>
                <a:cs typeface="Times New Roman" pitchFamily="34" charset="-120"/>
              </a:rPr>
              <a:t>Trong phạm vi chào thầu</a:t>
            </a:r>
            <a:endParaRPr lang="en-US" sz="1700" dirty="0"/>
          </a:p>
        </p:txBody>
      </p:sp>
      <p:sp>
        <p:nvSpPr>
          <p:cNvPr id="7" name="Text 5"/>
          <p:cNvSpPr/>
          <p:nvPr/>
        </p:nvSpPr>
        <p:spPr>
          <a:xfrm>
            <a:off x="1138638" y="2480838"/>
            <a:ext cx="4751571" cy="1518532"/>
          </a:xfrm>
          <a:prstGeom prst="rect">
            <a:avLst/>
          </a:prstGeom>
          <a:noFill/>
          <a:ln/>
        </p:spPr>
        <p:txBody>
          <a:bodyPr wrap="square" lIns="0" tIns="0" rIns="0" bIns="0" rtlCol="0" anchor="t">
            <a:normAutofit/>
          </a:bodyPr>
          <a:lstStyle/>
          <a:p>
            <a:pPr marL="156718" indent="-156718" algn="l">
              <a:lnSpc>
                <a:spcPts val="1960"/>
              </a:lnSpc>
              <a:buSzPct val="100000"/>
              <a:buChar char="•"/>
            </a:pPr>
            <a:r>
              <a:rPr lang="en-US" sz="1400" b="1" dirty="0">
                <a:solidFill>
                  <a:srgbClr val="1B2433"/>
                </a:solidFill>
                <a:latin typeface="Times New Roman" pitchFamily="34" charset="0"/>
                <a:ea typeface="Times New Roman" pitchFamily="34" charset="-122"/>
                <a:cs typeface="Times New Roman" pitchFamily="34" charset="-120"/>
              </a:rPr>
              <a:t>Product Search</a:t>
            </a:r>
            <a:r>
              <a:rPr lang="en-US" sz="1400" dirty="0">
                <a:solidFill>
                  <a:srgbClr val="1B2433"/>
                </a:solidFill>
                <a:latin typeface="Times New Roman" pitchFamily="34" charset="0"/>
                <a:ea typeface="Times New Roman" pitchFamily="34" charset="-122"/>
                <a:cs typeface="Times New Roman" pitchFamily="34" charset="-120"/>
              </a:rPr>
              <a:t>: tìm kiếm, lọc, danh mục, chi tiết sản phẩm</a:t>
            </a:r>
            <a:endParaRPr lang="en-US" sz="1400" dirty="0"/>
          </a:p>
          <a:p>
            <a:pPr marL="156718" indent="-156718" algn="l">
              <a:lnSpc>
                <a:spcPts val="1960"/>
              </a:lnSpc>
              <a:buSzPct val="100000"/>
              <a:buChar char="•"/>
            </a:pPr>
            <a:r>
              <a:rPr lang="en-US" sz="1400" b="1" dirty="0">
                <a:solidFill>
                  <a:srgbClr val="1B2433"/>
                </a:solidFill>
                <a:latin typeface="Times New Roman" pitchFamily="34" charset="0"/>
                <a:ea typeface="Times New Roman" pitchFamily="34" charset="-122"/>
                <a:cs typeface="Times New Roman" pitchFamily="34" charset="-120"/>
              </a:rPr>
              <a:t>Member Administration</a:t>
            </a:r>
            <a:r>
              <a:rPr lang="en-US" sz="1400" dirty="0">
                <a:solidFill>
                  <a:srgbClr val="1B2433"/>
                </a:solidFill>
                <a:latin typeface="Times New Roman" pitchFamily="34" charset="0"/>
                <a:ea typeface="Times New Roman" pitchFamily="34" charset="-122"/>
                <a:cs typeface="Times New Roman" pitchFamily="34" charset="-120"/>
              </a:rPr>
              <a:t>: đăng ký, hồ sơ, địa chỉ, lịch sử mua</a:t>
            </a:r>
            <a:endParaRPr lang="en-US" sz="1400" dirty="0"/>
          </a:p>
          <a:p>
            <a:pPr marL="156718" indent="-156718" algn="l">
              <a:lnSpc>
                <a:spcPts val="1960"/>
              </a:lnSpc>
              <a:buSzPct val="100000"/>
              <a:buChar char="•"/>
            </a:pPr>
            <a:r>
              <a:rPr lang="en-US" sz="1400" b="1" dirty="0">
                <a:solidFill>
                  <a:srgbClr val="1B2433"/>
                </a:solidFill>
                <a:latin typeface="Times New Roman" pitchFamily="34" charset="0"/>
                <a:ea typeface="Times New Roman" pitchFamily="34" charset="-122"/>
                <a:cs typeface="Times New Roman" pitchFamily="34" charset="-120"/>
              </a:rPr>
              <a:t>Order</a:t>
            </a:r>
            <a:r>
              <a:rPr lang="en-US" sz="1400" dirty="0">
                <a:solidFill>
                  <a:srgbClr val="1B2433"/>
                </a:solidFill>
                <a:latin typeface="Times New Roman" pitchFamily="34" charset="0"/>
                <a:ea typeface="Times New Roman" pitchFamily="34" charset="-122"/>
                <a:cs typeface="Times New Roman" pitchFamily="34" charset="-120"/>
              </a:rPr>
              <a:t>: giỏ hàng, đặt hàng, theo dõi và hủy đơn, thanh toán</a:t>
            </a:r>
            <a:endParaRPr lang="en-US" sz="1400" dirty="0"/>
          </a:p>
          <a:p>
            <a:pPr marL="156718" indent="-156718" algn="l">
              <a:lnSpc>
                <a:spcPts val="1960"/>
              </a:lnSpc>
              <a:buSzPct val="100000"/>
              <a:buChar char="•"/>
            </a:pPr>
            <a:r>
              <a:rPr lang="en-US" sz="1400" b="1" dirty="0">
                <a:solidFill>
                  <a:srgbClr val="1B2433"/>
                </a:solidFill>
                <a:latin typeface="Times New Roman" pitchFamily="34" charset="0"/>
                <a:ea typeface="Times New Roman" pitchFamily="34" charset="-122"/>
                <a:cs typeface="Times New Roman" pitchFamily="34" charset="-120"/>
              </a:rPr>
              <a:t>System Integration</a:t>
            </a:r>
            <a:r>
              <a:rPr lang="en-US" sz="1400" dirty="0">
                <a:solidFill>
                  <a:srgbClr val="1B2433"/>
                </a:solidFill>
                <a:latin typeface="Times New Roman" pitchFamily="34" charset="0"/>
                <a:ea typeface="Times New Roman" pitchFamily="34" charset="-122"/>
                <a:cs typeface="Times New Roman" pitchFamily="34" charset="-120"/>
              </a:rPr>
              <a:t>: API và đồng bộ hai chiều với Main System</a:t>
            </a:r>
            <a:endParaRPr lang="en-US" sz="1400" dirty="0"/>
          </a:p>
        </p:txBody>
      </p:sp>
      <p:sp>
        <p:nvSpPr>
          <p:cNvPr id="8" name="Shape 6"/>
          <p:cNvSpPr/>
          <p:nvPr/>
        </p:nvSpPr>
        <p:spPr>
          <a:xfrm>
            <a:off x="6194441" y="1847630"/>
            <a:ext cx="5178352" cy="2348560"/>
          </a:xfrm>
          <a:prstGeom prst="roundRect">
            <a:avLst>
              <a:gd name="adj" fmla="val 4056"/>
            </a:avLst>
          </a:prstGeom>
          <a:solidFill>
            <a:srgbClr val="F6F4EF"/>
          </a:solidFill>
          <a:ln w="12700">
            <a:solidFill>
              <a:srgbClr val="D6D0C3"/>
            </a:solidFill>
            <a:prstDash val="solid"/>
          </a:ln>
        </p:spPr>
      </p:sp>
      <p:sp>
        <p:nvSpPr>
          <p:cNvPr id="9" name="Text 7"/>
          <p:cNvSpPr/>
          <p:nvPr/>
        </p:nvSpPr>
        <p:spPr>
          <a:xfrm>
            <a:off x="6426069" y="2079259"/>
            <a:ext cx="4856549" cy="28447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B2433"/>
                </a:solidFill>
                <a:latin typeface="Times New Roman" pitchFamily="34" charset="0"/>
                <a:ea typeface="Times New Roman" pitchFamily="34" charset="-122"/>
                <a:cs typeface="Times New Roman" pitchFamily="34" charset="-120"/>
              </a:rPr>
              <a:t>Ngoài phạm vi, do Main System đảm nhiệm</a:t>
            </a:r>
            <a:endParaRPr lang="en-US" sz="1700" dirty="0"/>
          </a:p>
        </p:txBody>
      </p:sp>
      <p:sp>
        <p:nvSpPr>
          <p:cNvPr id="10" name="Text 8"/>
          <p:cNvSpPr/>
          <p:nvPr/>
        </p:nvSpPr>
        <p:spPr>
          <a:xfrm>
            <a:off x="6523351" y="2452615"/>
            <a:ext cx="4751647" cy="1020821"/>
          </a:xfrm>
          <a:prstGeom prst="rect">
            <a:avLst/>
          </a:prstGeom>
          <a:noFill/>
          <a:ln/>
        </p:spPr>
        <p:txBody>
          <a:bodyPr wrap="square" lIns="0" tIns="0" rIns="0" bIns="0" rtlCol="0" anchor="t">
            <a:normAutofit/>
          </a:bodyPr>
          <a:lstStyle/>
          <a:p>
            <a:pPr marL="156718" indent="-156718" algn="l">
              <a:lnSpc>
                <a:spcPts val="1960"/>
              </a:lnSpc>
              <a:buSzPct val="100000"/>
              <a:buChar char="•"/>
            </a:pPr>
            <a:r>
              <a:rPr lang="en-US" sz="1400" dirty="0">
                <a:solidFill>
                  <a:srgbClr val="4A5263"/>
                </a:solidFill>
                <a:latin typeface="Times New Roman" pitchFamily="34" charset="0"/>
                <a:ea typeface="Times New Roman" pitchFamily="34" charset="-122"/>
                <a:cs typeface="Times New Roman" pitchFamily="34" charset="-120"/>
              </a:rPr>
              <a:t>Quản lý sản phẩm, danh mục, giá, tồn kho</a:t>
            </a:r>
            <a:endParaRPr lang="en-US" sz="1400" dirty="0"/>
          </a:p>
          <a:p>
            <a:pPr marL="156718" indent="-156718" algn="l">
              <a:lnSpc>
                <a:spcPts val="1960"/>
              </a:lnSpc>
              <a:buSzPct val="100000"/>
              <a:buChar char="•"/>
            </a:pPr>
            <a:r>
              <a:rPr lang="en-US" sz="1400" dirty="0">
                <a:solidFill>
                  <a:srgbClr val="4A5263"/>
                </a:solidFill>
                <a:latin typeface="Times New Roman" pitchFamily="34" charset="0"/>
                <a:ea typeface="Times New Roman" pitchFamily="34" charset="-122"/>
                <a:cs typeface="Times New Roman" pitchFamily="34" charset="-120"/>
              </a:rPr>
              <a:t>Khuyến mại, tích điểm, báo cáo quản trị</a:t>
            </a:r>
            <a:endParaRPr lang="en-US" sz="1400" dirty="0"/>
          </a:p>
          <a:p>
            <a:pPr marL="156718" indent="-156718" algn="l">
              <a:lnSpc>
                <a:spcPts val="1960"/>
              </a:lnSpc>
              <a:buSzPct val="100000"/>
              <a:buChar char="•"/>
            </a:pPr>
            <a:r>
              <a:rPr lang="en-US" sz="1400" dirty="0">
                <a:solidFill>
                  <a:srgbClr val="4A5263"/>
                </a:solidFill>
                <a:latin typeface="Times New Roman" pitchFamily="34" charset="0"/>
                <a:ea typeface="Times New Roman" pitchFamily="34" charset="-122"/>
                <a:cs typeface="Times New Roman" pitchFamily="34" charset="-120"/>
              </a:rPr>
              <a:t>Quản trị người dùng nội bộ, phân quyền nhân viên</a:t>
            </a:r>
            <a:endParaRPr lang="en-US" sz="1400" dirty="0"/>
          </a:p>
          <a:p>
            <a:pPr marL="156718" indent="-156718" algn="l">
              <a:lnSpc>
                <a:spcPts val="1960"/>
              </a:lnSpc>
              <a:buSzPct val="100000"/>
              <a:buChar char="•"/>
            </a:pPr>
            <a:r>
              <a:rPr lang="en-US" sz="1400" dirty="0">
                <a:solidFill>
                  <a:srgbClr val="4A5263"/>
                </a:solidFill>
                <a:latin typeface="Times New Roman" pitchFamily="34" charset="0"/>
                <a:ea typeface="Times New Roman" pitchFamily="34" charset="-122"/>
                <a:cs typeface="Times New Roman" pitchFamily="34" charset="-120"/>
              </a:rPr>
              <a:t>Sửa đổi mã nguồn của Main System</a:t>
            </a:r>
            <a:endParaRPr lang="en-US" sz="1400" dirty="0"/>
          </a:p>
        </p:txBody>
      </p:sp>
      <p:sp>
        <p:nvSpPr>
          <p:cNvPr id="11" name="Text 9"/>
          <p:cNvSpPr/>
          <p:nvPr/>
        </p:nvSpPr>
        <p:spPr>
          <a:xfrm>
            <a:off x="812785" y="4456466"/>
            <a:ext cx="10566357" cy="484923"/>
          </a:xfrm>
          <a:prstGeom prst="roundRect">
            <a:avLst>
              <a:gd name="adj" fmla="val 15714"/>
            </a:avLst>
          </a:prstGeom>
          <a:solidFill>
            <a:srgbClr val="F3E3DC"/>
          </a:solidFill>
          <a:ln/>
        </p:spPr>
        <p:txBody>
          <a:bodyPr wrap="square" lIns="155482" tIns="104682" rIns="0" bIns="79282" rtlCol="0" anchor="t">
            <a:normAutofit/>
          </a:bodyPr>
          <a:lstStyle/>
          <a:p>
            <a:pPr marL="0" indent="0" algn="l">
              <a:lnSpc>
                <a:spcPts val="1820"/>
              </a:lnSpc>
              <a:buNone/>
            </a:pPr>
            <a:r>
              <a:rPr lang="en-US" sz="1300" b="1" dirty="0">
                <a:solidFill>
                  <a:srgbClr val="1B2433"/>
                </a:solidFill>
                <a:latin typeface="Times New Roman" pitchFamily="34" charset="0"/>
                <a:ea typeface="Times New Roman" pitchFamily="34" charset="-122"/>
                <a:cs typeface="Times New Roman" pitchFamily="34" charset="-120"/>
              </a:rPr>
              <a:t>Tùy chọn, báo giá riêng:</a:t>
            </a:r>
            <a:r>
              <a:rPr lang="en-US" sz="1300" dirty="0">
                <a:solidFill>
                  <a:srgbClr val="1B2433"/>
                </a:solidFill>
                <a:latin typeface="Times New Roman" pitchFamily="34" charset="0"/>
                <a:ea typeface="Times New Roman" pitchFamily="34" charset="-122"/>
                <a:cs typeface="Times New Roman" pitchFamily="34" charset="-120"/>
              </a:rPr>
              <a:t> gợi ý sản phẩm · so sánh sản phẩm · hóa đơn điện tử · kết nối đơn vị giao hàng</a:t>
            </a:r>
            <a:endParaRPr lang="en-US" sz="1300" dirty="0"/>
          </a:p>
        </p:txBody>
      </p:sp>
      <p:sp>
        <p:nvSpPr>
          <p:cNvPr id="12" name="Text 10"/>
          <p:cNvSpPr/>
          <p:nvPr/>
        </p:nvSpPr>
        <p:spPr>
          <a:xfrm>
            <a:off x="812785" y="6238216"/>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Times New Roman" pitchFamily="34" charset="0"/>
                <a:ea typeface="Times New Roman" pitchFamily="34" charset="-122"/>
                <a:cs typeface="Times New Roman" pitchFamily="34" charset="-120"/>
              </a:rPr>
              <a:t>Công ty TNHH Group 6 · Đề xuất website thương mại điện tử ABC Wear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85" y="812788"/>
            <a:ext cx="10883348" cy="256469"/>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5482F"/>
                </a:solidFill>
                <a:latin typeface="Times New Roman" pitchFamily="34" charset="0"/>
                <a:ea typeface="Times New Roman" pitchFamily="34" charset="-122"/>
                <a:cs typeface="Times New Roman" pitchFamily="34" charset="-120"/>
              </a:rPr>
              <a:t>03 · KIẾN TRÚC HỆ THỐNG</a:t>
            </a:r>
            <a:endParaRPr lang="en-US" sz="1300" dirty="0"/>
          </a:p>
        </p:txBody>
      </p:sp>
      <p:sp>
        <p:nvSpPr>
          <p:cNvPr id="3" name="Text 1"/>
          <p:cNvSpPr/>
          <p:nvPr/>
        </p:nvSpPr>
        <p:spPr>
          <a:xfrm>
            <a:off x="812785" y="1119997"/>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B2433"/>
                </a:solidFill>
                <a:latin typeface="Times New Roman" pitchFamily="34" charset="0"/>
                <a:ea typeface="Times New Roman" pitchFamily="34" charset="-122"/>
                <a:cs typeface="Times New Roman" pitchFamily="34" charset="-120"/>
              </a:rPr>
              <a:t>Kiến trúc sáu tầng</a:t>
            </a:r>
            <a:endParaRPr lang="en-US" sz="3200" dirty="0"/>
          </a:p>
        </p:txBody>
      </p:sp>
      <p:sp>
        <p:nvSpPr>
          <p:cNvPr id="4" name="Shape 2"/>
          <p:cNvSpPr/>
          <p:nvPr/>
        </p:nvSpPr>
        <p:spPr>
          <a:xfrm>
            <a:off x="815960" y="1844455"/>
            <a:ext cx="7486577" cy="505766"/>
          </a:xfrm>
          <a:prstGeom prst="rect">
            <a:avLst/>
          </a:prstGeom>
          <a:solidFill>
            <a:srgbClr val="ECE8DF"/>
          </a:solidFill>
          <a:ln w="6350">
            <a:solidFill>
              <a:srgbClr val="D6D0C3"/>
            </a:solidFill>
            <a:prstDash val="solid"/>
          </a:ln>
        </p:spPr>
      </p:sp>
      <p:sp>
        <p:nvSpPr>
          <p:cNvPr id="5" name="Text 3"/>
          <p:cNvSpPr/>
          <p:nvPr/>
        </p:nvSpPr>
        <p:spPr>
          <a:xfrm>
            <a:off x="995274" y="1972912"/>
            <a:ext cx="1574727"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3"/>
                </a:solidFill>
                <a:latin typeface="Times New Roman" pitchFamily="34" charset="0"/>
                <a:ea typeface="Times New Roman" pitchFamily="34" charset="-122"/>
                <a:cs typeface="Times New Roman" pitchFamily="34" charset="-120"/>
              </a:rPr>
              <a:t>Truy cập</a:t>
            </a:r>
            <a:endParaRPr lang="en-US" sz="1400" dirty="0"/>
          </a:p>
        </p:txBody>
      </p:sp>
      <p:sp>
        <p:nvSpPr>
          <p:cNvPr id="6" name="Text 4"/>
          <p:cNvSpPr/>
          <p:nvPr/>
        </p:nvSpPr>
        <p:spPr>
          <a:xfrm>
            <a:off x="2671557" y="1972912"/>
            <a:ext cx="5615217"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3"/>
                </a:solidFill>
                <a:latin typeface="Times New Roman" pitchFamily="34" charset="0"/>
                <a:ea typeface="Times New Roman" pitchFamily="34" charset="-122"/>
                <a:cs typeface="Times New Roman" pitchFamily="34" charset="-120"/>
              </a:rPr>
              <a:t>Trình duyệt web và di động, giao diện responsive</a:t>
            </a:r>
            <a:endParaRPr lang="en-US" sz="1400" dirty="0"/>
          </a:p>
        </p:txBody>
      </p:sp>
      <p:sp>
        <p:nvSpPr>
          <p:cNvPr id="7" name="Shape 5"/>
          <p:cNvSpPr/>
          <p:nvPr/>
        </p:nvSpPr>
        <p:spPr>
          <a:xfrm>
            <a:off x="812785" y="2353397"/>
            <a:ext cx="7492927" cy="507412"/>
          </a:xfrm>
          <a:prstGeom prst="rect">
            <a:avLst/>
          </a:prstGeom>
          <a:solidFill>
            <a:srgbClr val="F6F4EF"/>
          </a:solidFill>
          <a:ln/>
        </p:spPr>
      </p:sp>
      <p:sp>
        <p:nvSpPr>
          <p:cNvPr id="8" name="Shape 6"/>
          <p:cNvSpPr/>
          <p:nvPr/>
        </p:nvSpPr>
        <p:spPr>
          <a:xfrm>
            <a:off x="8302538" y="2353397"/>
            <a:ext cx="0" cy="507412"/>
          </a:xfrm>
          <a:prstGeom prst="line">
            <a:avLst/>
          </a:prstGeom>
          <a:noFill/>
          <a:ln w="6350">
            <a:solidFill>
              <a:srgbClr val="D6D0C3"/>
            </a:solidFill>
            <a:prstDash val="solid"/>
          </a:ln>
        </p:spPr>
      </p:sp>
      <p:sp>
        <p:nvSpPr>
          <p:cNvPr id="9" name="Shape 7"/>
          <p:cNvSpPr/>
          <p:nvPr/>
        </p:nvSpPr>
        <p:spPr>
          <a:xfrm>
            <a:off x="812785" y="2857635"/>
            <a:ext cx="7492927" cy="0"/>
          </a:xfrm>
          <a:prstGeom prst="line">
            <a:avLst/>
          </a:prstGeom>
          <a:noFill/>
          <a:ln w="6350">
            <a:solidFill>
              <a:srgbClr val="D6D0C3"/>
            </a:solidFill>
            <a:prstDash val="solid"/>
          </a:ln>
        </p:spPr>
      </p:sp>
      <p:sp>
        <p:nvSpPr>
          <p:cNvPr id="10" name="Shape 8"/>
          <p:cNvSpPr/>
          <p:nvPr/>
        </p:nvSpPr>
        <p:spPr>
          <a:xfrm>
            <a:off x="815960" y="2353397"/>
            <a:ext cx="0" cy="507412"/>
          </a:xfrm>
          <a:prstGeom prst="line">
            <a:avLst/>
          </a:prstGeom>
          <a:noFill/>
          <a:ln w="6350">
            <a:solidFill>
              <a:srgbClr val="D6D0C3"/>
            </a:solidFill>
            <a:prstDash val="solid"/>
          </a:ln>
        </p:spPr>
      </p:sp>
      <p:sp>
        <p:nvSpPr>
          <p:cNvPr id="11" name="Text 9"/>
          <p:cNvSpPr/>
          <p:nvPr/>
        </p:nvSpPr>
        <p:spPr>
          <a:xfrm>
            <a:off x="995274" y="2480323"/>
            <a:ext cx="1574727"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3"/>
                </a:solidFill>
                <a:latin typeface="Times New Roman" pitchFamily="34" charset="0"/>
                <a:ea typeface="Times New Roman" pitchFamily="34" charset="-122"/>
                <a:cs typeface="Times New Roman" pitchFamily="34" charset="-120"/>
              </a:rPr>
              <a:t>Cân bằng tải</a:t>
            </a:r>
            <a:endParaRPr lang="en-US" sz="1400" dirty="0"/>
          </a:p>
        </p:txBody>
      </p:sp>
      <p:sp>
        <p:nvSpPr>
          <p:cNvPr id="12" name="Text 10"/>
          <p:cNvSpPr/>
          <p:nvPr/>
        </p:nvSpPr>
        <p:spPr>
          <a:xfrm>
            <a:off x="2671557" y="2480323"/>
            <a:ext cx="5615217"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3"/>
                </a:solidFill>
                <a:latin typeface="Times New Roman" pitchFamily="34" charset="0"/>
                <a:ea typeface="Times New Roman" pitchFamily="34" charset="-122"/>
                <a:cs typeface="Times New Roman" pitchFamily="34" charset="-120"/>
              </a:rPr>
              <a:t>Cặp chủ động – chờ, kết thúc SSL/TLS</a:t>
            </a:r>
            <a:endParaRPr lang="en-US" sz="1400" dirty="0"/>
          </a:p>
        </p:txBody>
      </p:sp>
      <p:sp>
        <p:nvSpPr>
          <p:cNvPr id="13" name="Shape 11"/>
          <p:cNvSpPr/>
          <p:nvPr/>
        </p:nvSpPr>
        <p:spPr>
          <a:xfrm>
            <a:off x="812785" y="2860808"/>
            <a:ext cx="7492927" cy="507412"/>
          </a:xfrm>
          <a:prstGeom prst="rect">
            <a:avLst/>
          </a:prstGeom>
          <a:solidFill>
            <a:srgbClr val="ECE8DF"/>
          </a:solidFill>
          <a:ln/>
        </p:spPr>
      </p:sp>
      <p:sp>
        <p:nvSpPr>
          <p:cNvPr id="14" name="Shape 12"/>
          <p:cNvSpPr/>
          <p:nvPr/>
        </p:nvSpPr>
        <p:spPr>
          <a:xfrm>
            <a:off x="8302538" y="2860808"/>
            <a:ext cx="0" cy="507412"/>
          </a:xfrm>
          <a:prstGeom prst="line">
            <a:avLst/>
          </a:prstGeom>
          <a:noFill/>
          <a:ln w="6350">
            <a:solidFill>
              <a:srgbClr val="D6D0C3"/>
            </a:solidFill>
            <a:prstDash val="solid"/>
          </a:ln>
        </p:spPr>
      </p:sp>
      <p:sp>
        <p:nvSpPr>
          <p:cNvPr id="15" name="Shape 13"/>
          <p:cNvSpPr/>
          <p:nvPr/>
        </p:nvSpPr>
        <p:spPr>
          <a:xfrm>
            <a:off x="812785" y="3365045"/>
            <a:ext cx="7492927" cy="0"/>
          </a:xfrm>
          <a:prstGeom prst="line">
            <a:avLst/>
          </a:prstGeom>
          <a:noFill/>
          <a:ln w="6350">
            <a:solidFill>
              <a:srgbClr val="D6D0C3"/>
            </a:solidFill>
            <a:prstDash val="solid"/>
          </a:ln>
        </p:spPr>
      </p:sp>
      <p:sp>
        <p:nvSpPr>
          <p:cNvPr id="16" name="Shape 14"/>
          <p:cNvSpPr/>
          <p:nvPr/>
        </p:nvSpPr>
        <p:spPr>
          <a:xfrm>
            <a:off x="815960" y="2860808"/>
            <a:ext cx="0" cy="507412"/>
          </a:xfrm>
          <a:prstGeom prst="line">
            <a:avLst/>
          </a:prstGeom>
          <a:noFill/>
          <a:ln w="6350">
            <a:solidFill>
              <a:srgbClr val="D6D0C3"/>
            </a:solidFill>
            <a:prstDash val="solid"/>
          </a:ln>
        </p:spPr>
      </p:sp>
      <p:sp>
        <p:nvSpPr>
          <p:cNvPr id="17" name="Text 15"/>
          <p:cNvSpPr/>
          <p:nvPr/>
        </p:nvSpPr>
        <p:spPr>
          <a:xfrm>
            <a:off x="995274" y="2987734"/>
            <a:ext cx="1574727"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3"/>
                </a:solidFill>
                <a:latin typeface="Times New Roman" pitchFamily="34" charset="0"/>
                <a:ea typeface="Times New Roman" pitchFamily="34" charset="-122"/>
                <a:cs typeface="Times New Roman" pitchFamily="34" charset="-120"/>
              </a:rPr>
              <a:t>Cổng API</a:t>
            </a:r>
            <a:endParaRPr lang="en-US" sz="1400" dirty="0"/>
          </a:p>
        </p:txBody>
      </p:sp>
      <p:sp>
        <p:nvSpPr>
          <p:cNvPr id="18" name="Text 16"/>
          <p:cNvSpPr/>
          <p:nvPr/>
        </p:nvSpPr>
        <p:spPr>
          <a:xfrm>
            <a:off x="2671557" y="2987734"/>
            <a:ext cx="5615217"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3"/>
                </a:solidFill>
                <a:latin typeface="Times New Roman" pitchFamily="34" charset="0"/>
                <a:ea typeface="Times New Roman" pitchFamily="34" charset="-122"/>
                <a:cs typeface="Times New Roman" pitchFamily="34" charset="-120"/>
              </a:rPr>
              <a:t>API Gateway và dịch vụ xác thực, giới hạn tần suất</a:t>
            </a:r>
            <a:endParaRPr lang="en-US" sz="1400" dirty="0"/>
          </a:p>
        </p:txBody>
      </p:sp>
      <p:sp>
        <p:nvSpPr>
          <p:cNvPr id="19" name="Shape 17"/>
          <p:cNvSpPr/>
          <p:nvPr/>
        </p:nvSpPr>
        <p:spPr>
          <a:xfrm>
            <a:off x="812785" y="3368219"/>
            <a:ext cx="7492927" cy="507412"/>
          </a:xfrm>
          <a:prstGeom prst="rect">
            <a:avLst/>
          </a:prstGeom>
          <a:solidFill>
            <a:srgbClr val="F6F4EF"/>
          </a:solidFill>
          <a:ln/>
        </p:spPr>
      </p:sp>
      <p:sp>
        <p:nvSpPr>
          <p:cNvPr id="20" name="Shape 18"/>
          <p:cNvSpPr/>
          <p:nvPr/>
        </p:nvSpPr>
        <p:spPr>
          <a:xfrm>
            <a:off x="8302538" y="3368219"/>
            <a:ext cx="0" cy="507412"/>
          </a:xfrm>
          <a:prstGeom prst="line">
            <a:avLst/>
          </a:prstGeom>
          <a:noFill/>
          <a:ln w="6350">
            <a:solidFill>
              <a:srgbClr val="D6D0C3"/>
            </a:solidFill>
            <a:prstDash val="solid"/>
          </a:ln>
        </p:spPr>
      </p:sp>
      <p:sp>
        <p:nvSpPr>
          <p:cNvPr id="21" name="Shape 19"/>
          <p:cNvSpPr/>
          <p:nvPr/>
        </p:nvSpPr>
        <p:spPr>
          <a:xfrm>
            <a:off x="812785" y="3872456"/>
            <a:ext cx="7492927" cy="0"/>
          </a:xfrm>
          <a:prstGeom prst="line">
            <a:avLst/>
          </a:prstGeom>
          <a:noFill/>
          <a:ln w="6350">
            <a:solidFill>
              <a:srgbClr val="D6D0C3"/>
            </a:solidFill>
            <a:prstDash val="solid"/>
          </a:ln>
        </p:spPr>
      </p:sp>
      <p:sp>
        <p:nvSpPr>
          <p:cNvPr id="22" name="Shape 20"/>
          <p:cNvSpPr/>
          <p:nvPr/>
        </p:nvSpPr>
        <p:spPr>
          <a:xfrm>
            <a:off x="815960" y="3368219"/>
            <a:ext cx="0" cy="507412"/>
          </a:xfrm>
          <a:prstGeom prst="line">
            <a:avLst/>
          </a:prstGeom>
          <a:noFill/>
          <a:ln w="6350">
            <a:solidFill>
              <a:srgbClr val="D6D0C3"/>
            </a:solidFill>
            <a:prstDash val="solid"/>
          </a:ln>
        </p:spPr>
      </p:sp>
      <p:sp>
        <p:nvSpPr>
          <p:cNvPr id="23" name="Text 21"/>
          <p:cNvSpPr/>
          <p:nvPr/>
        </p:nvSpPr>
        <p:spPr>
          <a:xfrm>
            <a:off x="995274" y="3495148"/>
            <a:ext cx="1574727"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3"/>
                </a:solidFill>
                <a:latin typeface="Times New Roman" pitchFamily="34" charset="0"/>
                <a:ea typeface="Times New Roman" pitchFamily="34" charset="-122"/>
                <a:cs typeface="Times New Roman" pitchFamily="34" charset="-120"/>
              </a:rPr>
              <a:t>Nghiệp vụ</a:t>
            </a:r>
            <a:endParaRPr lang="en-US" sz="1400" dirty="0"/>
          </a:p>
        </p:txBody>
      </p:sp>
      <p:sp>
        <p:nvSpPr>
          <p:cNvPr id="24" name="Text 22"/>
          <p:cNvSpPr/>
          <p:nvPr/>
        </p:nvSpPr>
        <p:spPr>
          <a:xfrm>
            <a:off x="2671557" y="3495148"/>
            <a:ext cx="5615217"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3"/>
                </a:solidFill>
                <a:latin typeface="Times New Roman" pitchFamily="34" charset="0"/>
                <a:ea typeface="Times New Roman" pitchFamily="34" charset="-122"/>
                <a:cs typeface="Times New Roman" pitchFamily="34" charset="-120"/>
              </a:rPr>
              <a:t>Product Search · Member · Order, tách độc lập</a:t>
            </a:r>
            <a:endParaRPr lang="en-US" sz="1400" dirty="0"/>
          </a:p>
        </p:txBody>
      </p:sp>
      <p:sp>
        <p:nvSpPr>
          <p:cNvPr id="25" name="Shape 23"/>
          <p:cNvSpPr/>
          <p:nvPr/>
        </p:nvSpPr>
        <p:spPr>
          <a:xfrm>
            <a:off x="812785" y="3875633"/>
            <a:ext cx="7492927" cy="507412"/>
          </a:xfrm>
          <a:prstGeom prst="rect">
            <a:avLst/>
          </a:prstGeom>
          <a:solidFill>
            <a:srgbClr val="ECE8DF"/>
          </a:solidFill>
          <a:ln/>
        </p:spPr>
      </p:sp>
      <p:sp>
        <p:nvSpPr>
          <p:cNvPr id="26" name="Shape 24"/>
          <p:cNvSpPr/>
          <p:nvPr/>
        </p:nvSpPr>
        <p:spPr>
          <a:xfrm>
            <a:off x="8302538" y="3875633"/>
            <a:ext cx="0" cy="507412"/>
          </a:xfrm>
          <a:prstGeom prst="line">
            <a:avLst/>
          </a:prstGeom>
          <a:noFill/>
          <a:ln w="6350">
            <a:solidFill>
              <a:srgbClr val="D6D0C3"/>
            </a:solidFill>
            <a:prstDash val="solid"/>
          </a:ln>
        </p:spPr>
      </p:sp>
      <p:sp>
        <p:nvSpPr>
          <p:cNvPr id="27" name="Shape 25"/>
          <p:cNvSpPr/>
          <p:nvPr/>
        </p:nvSpPr>
        <p:spPr>
          <a:xfrm>
            <a:off x="812785" y="4379870"/>
            <a:ext cx="7492927" cy="0"/>
          </a:xfrm>
          <a:prstGeom prst="line">
            <a:avLst/>
          </a:prstGeom>
          <a:noFill/>
          <a:ln w="6350">
            <a:solidFill>
              <a:srgbClr val="D6D0C3"/>
            </a:solidFill>
            <a:prstDash val="solid"/>
          </a:ln>
        </p:spPr>
      </p:sp>
      <p:sp>
        <p:nvSpPr>
          <p:cNvPr id="28" name="Shape 26"/>
          <p:cNvSpPr/>
          <p:nvPr/>
        </p:nvSpPr>
        <p:spPr>
          <a:xfrm>
            <a:off x="815960" y="3875633"/>
            <a:ext cx="0" cy="507412"/>
          </a:xfrm>
          <a:prstGeom prst="line">
            <a:avLst/>
          </a:prstGeom>
          <a:noFill/>
          <a:ln w="6350">
            <a:solidFill>
              <a:srgbClr val="D6D0C3"/>
            </a:solidFill>
            <a:prstDash val="solid"/>
          </a:ln>
        </p:spPr>
      </p:sp>
      <p:sp>
        <p:nvSpPr>
          <p:cNvPr id="29" name="Text 27"/>
          <p:cNvSpPr/>
          <p:nvPr/>
        </p:nvSpPr>
        <p:spPr>
          <a:xfrm>
            <a:off x="995274" y="4002559"/>
            <a:ext cx="1574727"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B2433"/>
                </a:solidFill>
                <a:latin typeface="Times New Roman" pitchFamily="34" charset="0"/>
                <a:ea typeface="Times New Roman" pitchFamily="34" charset="-122"/>
                <a:cs typeface="Times New Roman" pitchFamily="34" charset="-120"/>
              </a:rPr>
              <a:t>Dữ liệu</a:t>
            </a:r>
            <a:endParaRPr lang="en-US" sz="1400" dirty="0"/>
          </a:p>
        </p:txBody>
      </p:sp>
      <p:sp>
        <p:nvSpPr>
          <p:cNvPr id="30" name="Text 28"/>
          <p:cNvSpPr/>
          <p:nvPr/>
        </p:nvSpPr>
        <p:spPr>
          <a:xfrm>
            <a:off x="2671557" y="4002559"/>
            <a:ext cx="5615217"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3"/>
                </a:solidFill>
                <a:latin typeface="Times New Roman" pitchFamily="34" charset="0"/>
                <a:ea typeface="Times New Roman" pitchFamily="34" charset="-122"/>
                <a:cs typeface="Times New Roman" pitchFamily="34" charset="-120"/>
              </a:rPr>
              <a:t>Selling DB có bản sao đọc · cache · chỉ mục tìm kiếm</a:t>
            </a:r>
            <a:endParaRPr lang="en-US" sz="1400" dirty="0"/>
          </a:p>
        </p:txBody>
      </p:sp>
      <p:sp>
        <p:nvSpPr>
          <p:cNvPr id="31" name="Shape 29"/>
          <p:cNvSpPr/>
          <p:nvPr/>
        </p:nvSpPr>
        <p:spPr>
          <a:xfrm>
            <a:off x="812785" y="4383044"/>
            <a:ext cx="7492927" cy="507412"/>
          </a:xfrm>
          <a:prstGeom prst="rect">
            <a:avLst/>
          </a:prstGeom>
          <a:solidFill>
            <a:srgbClr val="E3ECF5"/>
          </a:solidFill>
          <a:ln/>
        </p:spPr>
      </p:sp>
      <p:sp>
        <p:nvSpPr>
          <p:cNvPr id="32" name="Shape 30"/>
          <p:cNvSpPr/>
          <p:nvPr/>
        </p:nvSpPr>
        <p:spPr>
          <a:xfrm>
            <a:off x="8302538" y="4383044"/>
            <a:ext cx="0" cy="507412"/>
          </a:xfrm>
          <a:prstGeom prst="line">
            <a:avLst/>
          </a:prstGeom>
          <a:noFill/>
          <a:ln w="6350">
            <a:solidFill>
              <a:srgbClr val="D6D0C3"/>
            </a:solidFill>
            <a:prstDash val="solid"/>
          </a:ln>
        </p:spPr>
      </p:sp>
      <p:sp>
        <p:nvSpPr>
          <p:cNvPr id="33" name="Shape 31"/>
          <p:cNvSpPr/>
          <p:nvPr/>
        </p:nvSpPr>
        <p:spPr>
          <a:xfrm>
            <a:off x="812785" y="4887281"/>
            <a:ext cx="7492927" cy="0"/>
          </a:xfrm>
          <a:prstGeom prst="line">
            <a:avLst/>
          </a:prstGeom>
          <a:noFill/>
          <a:ln w="6350">
            <a:solidFill>
              <a:srgbClr val="D6D0C3"/>
            </a:solidFill>
            <a:prstDash val="solid"/>
          </a:ln>
        </p:spPr>
      </p:sp>
      <p:sp>
        <p:nvSpPr>
          <p:cNvPr id="34" name="Shape 32"/>
          <p:cNvSpPr/>
          <p:nvPr/>
        </p:nvSpPr>
        <p:spPr>
          <a:xfrm>
            <a:off x="815960" y="4383044"/>
            <a:ext cx="0" cy="507412"/>
          </a:xfrm>
          <a:prstGeom prst="line">
            <a:avLst/>
          </a:prstGeom>
          <a:noFill/>
          <a:ln w="6350">
            <a:solidFill>
              <a:srgbClr val="D6D0C3"/>
            </a:solidFill>
            <a:prstDash val="solid"/>
          </a:ln>
        </p:spPr>
      </p:sp>
      <p:sp>
        <p:nvSpPr>
          <p:cNvPr id="35" name="Text 33"/>
          <p:cNvSpPr/>
          <p:nvPr/>
        </p:nvSpPr>
        <p:spPr>
          <a:xfrm>
            <a:off x="995274" y="4509973"/>
            <a:ext cx="1574727" cy="274255"/>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F5D8C"/>
                </a:solidFill>
                <a:latin typeface="Times New Roman" pitchFamily="34" charset="0"/>
                <a:ea typeface="Times New Roman" pitchFamily="34" charset="-122"/>
                <a:cs typeface="Times New Roman" pitchFamily="34" charset="-120"/>
              </a:rPr>
              <a:t>Tích hợp</a:t>
            </a:r>
            <a:endParaRPr lang="en-US" sz="1400" dirty="0"/>
          </a:p>
        </p:txBody>
      </p:sp>
      <p:sp>
        <p:nvSpPr>
          <p:cNvPr id="36" name="Text 34"/>
          <p:cNvSpPr/>
          <p:nvPr/>
        </p:nvSpPr>
        <p:spPr>
          <a:xfrm>
            <a:off x="2671557" y="4509973"/>
            <a:ext cx="5615217"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3"/>
                </a:solidFill>
                <a:latin typeface="Times New Roman" pitchFamily="34" charset="0"/>
                <a:ea typeface="Times New Roman" pitchFamily="34" charset="-122"/>
                <a:cs typeface="Times New Roman" pitchFamily="34" charset="-120"/>
              </a:rPr>
              <a:t>Adapter duy nhất trao đổi với Main System, ghi nhật ký</a:t>
            </a:r>
            <a:endParaRPr lang="en-US" sz="1400" dirty="0"/>
          </a:p>
        </p:txBody>
      </p:sp>
      <p:pic>
        <p:nvPicPr>
          <p:cNvPr id="37" name="Image 0" descr="arrow-right"/>
          <p:cNvPicPr>
            <a:picLocks noChangeAspect="1"/>
          </p:cNvPicPr>
          <p:nvPr/>
        </p:nvPicPr>
        <p:blipFill>
          <a:blip r:embed="rId3"/>
          <a:srcRect/>
          <a:stretch/>
        </p:blipFill>
        <p:spPr>
          <a:xfrm>
            <a:off x="8508854" y="4534886"/>
            <a:ext cx="711141" cy="355571"/>
          </a:xfrm>
          <a:prstGeom prst="rect">
            <a:avLst/>
          </a:prstGeom>
        </p:spPr>
      </p:pic>
      <p:sp>
        <p:nvSpPr>
          <p:cNvPr id="38" name="Shape 35"/>
          <p:cNvSpPr/>
          <p:nvPr/>
        </p:nvSpPr>
        <p:spPr>
          <a:xfrm>
            <a:off x="9429486" y="3537217"/>
            <a:ext cx="1943306" cy="1346891"/>
          </a:xfrm>
          <a:prstGeom prst="roundRect">
            <a:avLst>
              <a:gd name="adj" fmla="val 7072"/>
            </a:avLst>
          </a:prstGeom>
          <a:solidFill>
            <a:srgbClr val="F3E3DC"/>
          </a:solidFill>
          <a:ln w="12700">
            <a:solidFill>
              <a:srgbClr val="B5482F"/>
            </a:solidFill>
            <a:prstDash val="solid"/>
          </a:ln>
        </p:spPr>
      </p:sp>
      <p:sp>
        <p:nvSpPr>
          <p:cNvPr id="39" name="Text 36"/>
          <p:cNvSpPr/>
          <p:nvPr/>
        </p:nvSpPr>
        <p:spPr>
          <a:xfrm>
            <a:off x="9610330" y="3718058"/>
            <a:ext cx="1632421" cy="253971"/>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B5482F"/>
                </a:solidFill>
                <a:latin typeface="Times New Roman" pitchFamily="34" charset="0"/>
                <a:ea typeface="Times New Roman" pitchFamily="34" charset="-122"/>
                <a:cs typeface="Times New Roman" pitchFamily="34" charset="-120"/>
              </a:rPr>
              <a:t>Main System</a:t>
            </a:r>
            <a:endParaRPr lang="en-US" sz="1500" dirty="0"/>
          </a:p>
        </p:txBody>
      </p:sp>
      <p:sp>
        <p:nvSpPr>
          <p:cNvPr id="40" name="Text 37"/>
          <p:cNvSpPr/>
          <p:nvPr/>
        </p:nvSpPr>
        <p:spPr>
          <a:xfrm>
            <a:off x="9610330" y="4010056"/>
            <a:ext cx="1632421" cy="718608"/>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Hệ thống hiện hữu. Sản phẩm, tồn kho đi vào; đơn hàng đi ra.</a:t>
            </a:r>
            <a:endParaRPr lang="en-US" sz="1300" dirty="0"/>
          </a:p>
        </p:txBody>
      </p:sp>
      <p:sp>
        <p:nvSpPr>
          <p:cNvPr id="41" name="Text 38"/>
          <p:cNvSpPr/>
          <p:nvPr/>
        </p:nvSpPr>
        <p:spPr>
          <a:xfrm>
            <a:off x="812785" y="6238215"/>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Times New Roman" pitchFamily="34" charset="0"/>
                <a:ea typeface="Times New Roman" pitchFamily="34" charset="-122"/>
                <a:cs typeface="Times New Roman" pitchFamily="34" charset="-120"/>
              </a:rPr>
              <a:t>Công ty TNHH Group 6 · Đề xuất website thương mại điện tử ABC Wear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85" y="812784"/>
            <a:ext cx="10883348" cy="256469"/>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5482F"/>
                </a:solidFill>
                <a:latin typeface="Times New Roman" pitchFamily="34" charset="0"/>
                <a:ea typeface="Times New Roman" pitchFamily="34" charset="-122"/>
                <a:cs typeface="Times New Roman" pitchFamily="34" charset="-120"/>
              </a:rPr>
              <a:t>04 · MÔ HÌNH DỮ LIỆU</a:t>
            </a:r>
            <a:endParaRPr lang="en-US" sz="1300" dirty="0"/>
          </a:p>
        </p:txBody>
      </p:sp>
      <p:sp>
        <p:nvSpPr>
          <p:cNvPr id="3" name="Text 1"/>
          <p:cNvSpPr/>
          <p:nvPr/>
        </p:nvSpPr>
        <p:spPr>
          <a:xfrm>
            <a:off x="812785" y="1119997"/>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B2433"/>
                </a:solidFill>
                <a:latin typeface="Times New Roman" pitchFamily="34" charset="0"/>
                <a:ea typeface="Times New Roman" pitchFamily="34" charset="-122"/>
                <a:cs typeface="Times New Roman" pitchFamily="34" charset="-120"/>
              </a:rPr>
              <a:t>Mô hình dữ liệu Selling DB</a:t>
            </a:r>
            <a:endParaRPr lang="en-US" sz="3200" dirty="0"/>
          </a:p>
        </p:txBody>
      </p:sp>
      <p:sp>
        <p:nvSpPr>
          <p:cNvPr id="4" name="Shape 2"/>
          <p:cNvSpPr/>
          <p:nvPr/>
        </p:nvSpPr>
        <p:spPr>
          <a:xfrm>
            <a:off x="815960" y="1844455"/>
            <a:ext cx="6556126" cy="3419196"/>
          </a:xfrm>
          <a:prstGeom prst="roundRect">
            <a:avLst>
              <a:gd name="adj" fmla="val 2879"/>
            </a:avLst>
          </a:prstGeom>
          <a:solidFill>
            <a:srgbClr val="FBFAF6"/>
          </a:solidFill>
          <a:ln w="6350">
            <a:solidFill>
              <a:srgbClr val="D6D0C3"/>
            </a:solidFill>
            <a:prstDash val="solid"/>
          </a:ln>
        </p:spPr>
      </p:sp>
      <p:pic>
        <p:nvPicPr>
          <p:cNvPr id="5" name="Image 0" descr="Sơ đồ liên kết thực thể Selling DB: MEMBER, ADDRESS, CATEGORY, PRODUCT, PRODUCT_VARIANT, ORDER, ORDER_LINE, PAYMENT, REFUND, INTEGRATION_LOG và quan hệ với Main System"/>
          <p:cNvPicPr>
            <a:picLocks noChangeAspect="1"/>
          </p:cNvPicPr>
          <p:nvPr/>
        </p:nvPicPr>
        <p:blipFill>
          <a:blip r:embed="rId3"/>
          <a:srcRect l="-47" r="-47"/>
          <a:stretch/>
        </p:blipFill>
        <p:spPr>
          <a:xfrm>
            <a:off x="919060" y="1947552"/>
            <a:ext cx="6349927" cy="2933642"/>
          </a:xfrm>
          <a:prstGeom prst="rect">
            <a:avLst/>
          </a:prstGeom>
        </p:spPr>
      </p:pic>
      <p:sp>
        <p:nvSpPr>
          <p:cNvPr id="6" name="Shape 3"/>
          <p:cNvSpPr/>
          <p:nvPr/>
        </p:nvSpPr>
        <p:spPr>
          <a:xfrm>
            <a:off x="7578403" y="1841280"/>
            <a:ext cx="3800740" cy="1074135"/>
          </a:xfrm>
          <a:prstGeom prst="roundRect">
            <a:avLst>
              <a:gd name="adj" fmla="val 9459"/>
            </a:avLst>
          </a:prstGeom>
          <a:solidFill>
            <a:srgbClr val="ECE8DF"/>
          </a:solidFill>
          <a:ln/>
        </p:spPr>
      </p:sp>
      <p:sp>
        <p:nvSpPr>
          <p:cNvPr id="7" name="Text 4"/>
          <p:cNvSpPr/>
          <p:nvPr/>
        </p:nvSpPr>
        <p:spPr>
          <a:xfrm>
            <a:off x="7730758" y="1993636"/>
            <a:ext cx="3600909"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33"/>
                </a:solidFill>
                <a:latin typeface="Times New Roman" pitchFamily="34" charset="0"/>
                <a:ea typeface="Times New Roman" pitchFamily="34" charset="-122"/>
                <a:cs typeface="Times New Roman" pitchFamily="34" charset="-120"/>
              </a:rPr>
              <a:t>Bản chụp lúc mua</a:t>
            </a:r>
            <a:endParaRPr lang="en-US" sz="1600" dirty="0"/>
          </a:p>
        </p:txBody>
      </p:sp>
      <p:sp>
        <p:nvSpPr>
          <p:cNvPr id="8" name="Text 5"/>
          <p:cNvSpPr/>
          <p:nvPr/>
        </p:nvSpPr>
        <p:spPr>
          <a:xfrm>
            <a:off x="7730758" y="2300920"/>
            <a:ext cx="3600909"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3"/>
                </a:solidFill>
                <a:latin typeface="Times New Roman" pitchFamily="34" charset="0"/>
                <a:ea typeface="Times New Roman" pitchFamily="34" charset="-122"/>
                <a:cs typeface="Times New Roman" pitchFamily="34" charset="-120"/>
              </a:rPr>
              <a:t>Đơn giữ nguyên địa chỉ và giá gốc dù khách sửa sổ địa chỉ hay cửa hàng đổi giá.</a:t>
            </a:r>
            <a:endParaRPr lang="en-US" sz="1300" dirty="0"/>
          </a:p>
        </p:txBody>
      </p:sp>
      <p:sp>
        <p:nvSpPr>
          <p:cNvPr id="9" name="Shape 6"/>
          <p:cNvSpPr/>
          <p:nvPr/>
        </p:nvSpPr>
        <p:spPr>
          <a:xfrm>
            <a:off x="7578403" y="3016985"/>
            <a:ext cx="3800740" cy="1074135"/>
          </a:xfrm>
          <a:prstGeom prst="roundRect">
            <a:avLst>
              <a:gd name="adj" fmla="val 9459"/>
            </a:avLst>
          </a:prstGeom>
          <a:solidFill>
            <a:srgbClr val="ECE8DF"/>
          </a:solidFill>
          <a:ln/>
        </p:spPr>
      </p:sp>
      <p:sp>
        <p:nvSpPr>
          <p:cNvPr id="10" name="Text 7"/>
          <p:cNvSpPr/>
          <p:nvPr/>
        </p:nvSpPr>
        <p:spPr>
          <a:xfrm>
            <a:off x="7730758" y="3169341"/>
            <a:ext cx="3600909"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33"/>
                </a:solidFill>
                <a:latin typeface="Times New Roman" pitchFamily="34" charset="0"/>
                <a:ea typeface="Times New Roman" pitchFamily="34" charset="-122"/>
                <a:cs typeface="Times New Roman" pitchFamily="34" charset="-120"/>
              </a:rPr>
              <a:t>Đặt không đăng nhập</a:t>
            </a:r>
            <a:endParaRPr lang="en-US" sz="1600" dirty="0"/>
          </a:p>
        </p:txBody>
      </p:sp>
      <p:sp>
        <p:nvSpPr>
          <p:cNvPr id="11" name="Text 8"/>
          <p:cNvSpPr/>
          <p:nvPr/>
        </p:nvSpPr>
        <p:spPr>
          <a:xfrm>
            <a:off x="7730758" y="3476625"/>
            <a:ext cx="3600909"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3"/>
                </a:solidFill>
                <a:latin typeface="Times New Roman" pitchFamily="34" charset="0"/>
                <a:ea typeface="Times New Roman" pitchFamily="34" charset="-122"/>
                <a:cs typeface="Times New Roman" pitchFamily="34" charset="-120"/>
              </a:rPr>
              <a:t>Thành viên trong đơn được để trống; lưu email, điện thoại khách vãng lai.</a:t>
            </a:r>
            <a:endParaRPr lang="en-US" sz="1300" dirty="0"/>
          </a:p>
        </p:txBody>
      </p:sp>
      <p:sp>
        <p:nvSpPr>
          <p:cNvPr id="12" name="Shape 9"/>
          <p:cNvSpPr/>
          <p:nvPr/>
        </p:nvSpPr>
        <p:spPr>
          <a:xfrm>
            <a:off x="7578403" y="4192690"/>
            <a:ext cx="3800740" cy="1074135"/>
          </a:xfrm>
          <a:prstGeom prst="roundRect">
            <a:avLst>
              <a:gd name="adj" fmla="val 9459"/>
            </a:avLst>
          </a:prstGeom>
          <a:solidFill>
            <a:srgbClr val="ECE8DF"/>
          </a:solidFill>
          <a:ln/>
        </p:spPr>
      </p:sp>
      <p:sp>
        <p:nvSpPr>
          <p:cNvPr id="13" name="Text 10"/>
          <p:cNvSpPr/>
          <p:nvPr/>
        </p:nvSpPr>
        <p:spPr>
          <a:xfrm>
            <a:off x="7730758" y="4345046"/>
            <a:ext cx="3600909"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33"/>
                </a:solidFill>
                <a:latin typeface="Times New Roman" pitchFamily="34" charset="0"/>
                <a:ea typeface="Times New Roman" pitchFamily="34" charset="-122"/>
                <a:cs typeface="Times New Roman" pitchFamily="34" charset="-120"/>
              </a:rPr>
              <a:t>Nhiều lần thanh toán</a:t>
            </a:r>
            <a:endParaRPr lang="en-US" sz="1600" dirty="0"/>
          </a:p>
        </p:txBody>
      </p:sp>
      <p:sp>
        <p:nvSpPr>
          <p:cNvPr id="14" name="Text 11"/>
          <p:cNvSpPr/>
          <p:nvPr/>
        </p:nvSpPr>
        <p:spPr>
          <a:xfrm>
            <a:off x="7730758" y="4652330"/>
            <a:ext cx="3600909"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3"/>
                </a:solidFill>
                <a:latin typeface="Times New Roman" pitchFamily="34" charset="0"/>
                <a:ea typeface="Times New Roman" pitchFamily="34" charset="-122"/>
                <a:cs typeface="Times New Roman" pitchFamily="34" charset="-120"/>
              </a:rPr>
              <a:t>Thanh toán lỗi được thử lại; hoàn tiền là thực thể riêng.</a:t>
            </a:r>
            <a:endParaRPr lang="en-US" sz="1300" dirty="0"/>
          </a:p>
        </p:txBody>
      </p:sp>
      <p:sp>
        <p:nvSpPr>
          <p:cNvPr id="15" name="Text 12"/>
          <p:cNvSpPr/>
          <p:nvPr/>
        </p:nvSpPr>
        <p:spPr>
          <a:xfrm>
            <a:off x="812785" y="6238215"/>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Times New Roman" pitchFamily="34" charset="0"/>
                <a:ea typeface="Times New Roman" pitchFamily="34" charset="-122"/>
                <a:cs typeface="Times New Roman" pitchFamily="34" charset="-120"/>
              </a:rPr>
              <a:t>Công ty TNHH Group 6 · Đề xuất website thương mại điện tử ABC Wear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85" y="812788"/>
            <a:ext cx="10883348" cy="256469"/>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5482F"/>
                </a:solidFill>
                <a:latin typeface="Times New Roman" pitchFamily="34" charset="0"/>
                <a:ea typeface="Times New Roman" pitchFamily="34" charset="-122"/>
                <a:cs typeface="Times New Roman" pitchFamily="34" charset="-120"/>
              </a:rPr>
              <a:t>05 · CAM KẾT CHẤT LƯỢNG</a:t>
            </a:r>
            <a:endParaRPr lang="en-US" sz="1300" dirty="0"/>
          </a:p>
        </p:txBody>
      </p:sp>
      <p:sp>
        <p:nvSpPr>
          <p:cNvPr id="3" name="Text 1"/>
          <p:cNvSpPr/>
          <p:nvPr/>
        </p:nvSpPr>
        <p:spPr>
          <a:xfrm>
            <a:off x="812785" y="1119997"/>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B2433"/>
                </a:solidFill>
                <a:latin typeface="Times New Roman" pitchFamily="34" charset="0"/>
                <a:ea typeface="Times New Roman" pitchFamily="34" charset="-122"/>
                <a:cs typeface="Times New Roman" pitchFamily="34" charset="-120"/>
              </a:rPr>
              <a:t>Phản hồi trong 2 giây</a:t>
            </a:r>
            <a:endParaRPr lang="en-US" sz="3200" dirty="0"/>
          </a:p>
        </p:txBody>
      </p:sp>
      <p:sp>
        <p:nvSpPr>
          <p:cNvPr id="4" name="Text 2"/>
          <p:cNvSpPr/>
          <p:nvPr/>
        </p:nvSpPr>
        <p:spPr>
          <a:xfrm>
            <a:off x="812785" y="1841280"/>
            <a:ext cx="3400985" cy="1295400"/>
          </a:xfrm>
          <a:prstGeom prst="rect">
            <a:avLst/>
          </a:prstGeom>
          <a:noFill/>
          <a:ln/>
        </p:spPr>
        <p:txBody>
          <a:bodyPr wrap="square" lIns="0" tIns="0" rIns="0" bIns="0" rtlCol="0" anchor="t">
            <a:normAutofit/>
          </a:bodyPr>
          <a:lstStyle/>
          <a:p>
            <a:pPr marL="0" indent="0" algn="l">
              <a:lnSpc>
                <a:spcPts val="10000"/>
              </a:lnSpc>
              <a:buNone/>
            </a:pPr>
            <a:r>
              <a:rPr lang="en-US" sz="10000" b="1" dirty="0">
                <a:solidFill>
                  <a:srgbClr val="B5482F"/>
                </a:solidFill>
                <a:latin typeface="Times New Roman" pitchFamily="34" charset="0"/>
                <a:ea typeface="Times New Roman" pitchFamily="34" charset="-122"/>
                <a:cs typeface="Times New Roman" pitchFamily="34" charset="-120"/>
              </a:rPr>
              <a:t>2 giây</a:t>
            </a:r>
            <a:endParaRPr lang="en-US" sz="10000" dirty="0"/>
          </a:p>
        </p:txBody>
      </p:sp>
      <p:sp>
        <p:nvSpPr>
          <p:cNvPr id="5" name="Text 3"/>
          <p:cNvSpPr/>
          <p:nvPr/>
        </p:nvSpPr>
        <p:spPr>
          <a:xfrm>
            <a:off x="812785" y="3212852"/>
            <a:ext cx="3400985" cy="878902"/>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B2433"/>
                </a:solidFill>
                <a:latin typeface="Times New Roman" pitchFamily="34" charset="0"/>
                <a:ea typeface="Times New Roman" pitchFamily="34" charset="-122"/>
                <a:cs typeface="Times New Roman" pitchFamily="34" charset="-120"/>
              </a:rPr>
              <a:t>cho </a:t>
            </a:r>
            <a:r>
              <a:rPr lang="en-US" sz="1600" b="1" dirty="0">
                <a:solidFill>
                  <a:srgbClr val="1B2433"/>
                </a:solidFill>
                <a:latin typeface="Times New Roman" pitchFamily="34" charset="0"/>
                <a:ea typeface="Times New Roman" pitchFamily="34" charset="-122"/>
                <a:cs typeface="Times New Roman" pitchFamily="34" charset="-120"/>
              </a:rPr>
              <a:t>từng mẫu hợp lệ</a:t>
            </a:r>
            <a:r>
              <a:rPr lang="en-US" sz="1600" dirty="0">
                <a:solidFill>
                  <a:srgbClr val="1B2433"/>
                </a:solidFill>
                <a:latin typeface="Times New Roman" pitchFamily="34" charset="0"/>
                <a:ea typeface="Times New Roman" pitchFamily="34" charset="-122"/>
                <a:cs typeface="Times New Roman" pitchFamily="34" charset="-120"/>
              </a:rPr>
              <a:t>, đo tại trình duyệt. Không lấy trung bình, không thay bằng phân vị.</a:t>
            </a:r>
            <a:endParaRPr lang="en-US" sz="1600" dirty="0"/>
          </a:p>
        </p:txBody>
      </p:sp>
      <p:sp>
        <p:nvSpPr>
          <p:cNvPr id="6" name="Shape 4"/>
          <p:cNvSpPr/>
          <p:nvPr/>
        </p:nvSpPr>
        <p:spPr>
          <a:xfrm>
            <a:off x="11375894" y="1841280"/>
            <a:ext cx="0" cy="2309813"/>
          </a:xfrm>
          <a:prstGeom prst="line">
            <a:avLst/>
          </a:prstGeom>
          <a:noFill/>
          <a:ln w="6350">
            <a:solidFill>
              <a:srgbClr val="D6D0C3"/>
            </a:solidFill>
            <a:prstDash val="solid"/>
          </a:ln>
        </p:spPr>
      </p:sp>
      <p:sp>
        <p:nvSpPr>
          <p:cNvPr id="7" name="Shape 5"/>
          <p:cNvSpPr/>
          <p:nvPr/>
        </p:nvSpPr>
        <p:spPr>
          <a:xfrm>
            <a:off x="4419498" y="4147918"/>
            <a:ext cx="6959571" cy="0"/>
          </a:xfrm>
          <a:prstGeom prst="line">
            <a:avLst/>
          </a:prstGeom>
          <a:noFill/>
          <a:ln w="6350">
            <a:solidFill>
              <a:srgbClr val="D6D0C3"/>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428905" y="1850687"/>
          <a:ext cx="6945460" cy="2295702"/>
        </p:xfrm>
        <a:graphic>
          <a:graphicData uri="http://schemas.openxmlformats.org/drawingml/2006/table">
            <a:tbl>
              <a:tblPr/>
              <a:tblGrid>
                <a:gridCol w="2083638">
                  <a:extLst>
                    <a:ext uri="{9D8B030D-6E8A-4147-A177-3AD203B41FA5}">
                      <a16:colId xmlns:a16="http://schemas.microsoft.com/office/drawing/2014/main" val="20000"/>
                    </a:ext>
                  </a:extLst>
                </a:gridCol>
                <a:gridCol w="4861822">
                  <a:extLst>
                    <a:ext uri="{9D8B030D-6E8A-4147-A177-3AD203B41FA5}">
                      <a16:colId xmlns:a16="http://schemas.microsoft.com/office/drawing/2014/main" val="20001"/>
                    </a:ext>
                  </a:extLst>
                </a:gridCol>
              </a:tblGrid>
              <a:tr h="382617">
                <a:tc>
                  <a:txBody>
                    <a:bodyPr/>
                    <a:lstStyle/>
                    <a:p>
                      <a:pPr marL="0" indent="0">
                        <a:lnSpc>
                          <a:spcPts val="1960"/>
                        </a:lnSpc>
                        <a:buNone/>
                      </a:pPr>
                      <a:r>
                        <a:rPr lang="en-US" sz="1400" b="1" dirty="0">
                          <a:solidFill>
                            <a:srgbClr val="F6F4EF"/>
                          </a:solidFill>
                          <a:latin typeface="Times New Roman" pitchFamily="34" charset="0"/>
                          <a:ea typeface="Times New Roman" pitchFamily="34" charset="-122"/>
                          <a:cs typeface="Times New Roman" pitchFamily="34" charset="-120"/>
                        </a:rPr>
                        <a:t>Thông số</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c>
                  <a:txBody>
                    <a:bodyPr/>
                    <a:lstStyle/>
                    <a:p>
                      <a:pPr marL="0" indent="0">
                        <a:lnSpc>
                          <a:spcPts val="1960"/>
                        </a:lnSpc>
                        <a:buNone/>
                      </a:pPr>
                      <a:r>
                        <a:rPr lang="en-US" sz="1400" b="1" dirty="0">
                          <a:solidFill>
                            <a:srgbClr val="F6F4EF"/>
                          </a:solidFill>
                          <a:latin typeface="Times New Roman" pitchFamily="34" charset="0"/>
                          <a:ea typeface="Times New Roman" pitchFamily="34" charset="-122"/>
                          <a:cs typeface="Times New Roman" pitchFamily="34" charset="-120"/>
                        </a:rPr>
                        <a:t>Cam kết</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19202C"/>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extLst>
                  <a:ext uri="{0D108BD9-81ED-4DB2-BD59-A6C34878D82A}">
                    <a16:rowId xmlns:a16="http://schemas.microsoft.com/office/drawing/2014/main" val="10000"/>
                  </a:ext>
                </a:extLst>
              </a:tr>
              <a:tr h="382617">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Mức tải</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400 phiên hoạt động thực tế</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extLst>
                  <a:ext uri="{0D108BD9-81ED-4DB2-BD59-A6C34878D82A}">
                    <a16:rowId xmlns:a16="http://schemas.microsoft.com/office/drawing/2014/main" val="10001"/>
                  </a:ext>
                </a:extLst>
              </a:tr>
              <a:tr h="382617">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Hồ sơ tải</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Tăng 10 phút · giữ 60 phút · lặp 3 lần</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2"/>
                  </a:ext>
                </a:extLst>
              </a:tr>
              <a:tr h="382617">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Cơ cấu</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Tìm 40% · xem 30% · tài khoản 20% · đặt hàng 10%</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extLst>
                  <a:ext uri="{0D108BD9-81ED-4DB2-BD59-A6C34878D82A}">
                    <a16:rowId xmlns:a16="http://schemas.microsoft.com/office/drawing/2014/main" val="10003"/>
                  </a:ext>
                </a:extLst>
              </a:tr>
              <a:tr h="382617">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Lỗi, timeout</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Tính là không đạt, không loại khỏi mẫu</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4"/>
                  </a:ext>
                </a:extLst>
              </a:tr>
              <a:tr h="382617">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Bằng chứng</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Chạy đủ cấu hình trên PRD trước go-live</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extLst>
                  <a:ext uri="{0D108BD9-81ED-4DB2-BD59-A6C34878D82A}">
                    <a16:rowId xmlns:a16="http://schemas.microsoft.com/office/drawing/2014/main" val="10005"/>
                  </a:ext>
                </a:extLst>
              </a:tr>
            </a:tbl>
          </a:graphicData>
        </a:graphic>
      </p:graphicFrame>
      <p:sp>
        <p:nvSpPr>
          <p:cNvPr id="9" name="Text 6"/>
          <p:cNvSpPr/>
          <p:nvPr/>
        </p:nvSpPr>
        <p:spPr>
          <a:xfrm>
            <a:off x="812785" y="6238215"/>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Times New Roman" pitchFamily="34" charset="0"/>
                <a:ea typeface="Times New Roman" pitchFamily="34" charset="-122"/>
                <a:cs typeface="Times New Roman" pitchFamily="34" charset="-120"/>
              </a:rPr>
              <a:t>Công ty TNHH Group 6 · Đề xuất website thương mại điện tử ABC Wear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85" y="812784"/>
            <a:ext cx="10883348" cy="256469"/>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5482F"/>
                </a:solidFill>
                <a:latin typeface="Times New Roman" pitchFamily="34" charset="0"/>
                <a:ea typeface="Times New Roman" pitchFamily="34" charset="-122"/>
                <a:cs typeface="Times New Roman" pitchFamily="34" charset="-120"/>
              </a:rPr>
              <a:t>05 · CAM KẾT CHẤT LƯỢNG</a:t>
            </a:r>
            <a:endParaRPr lang="en-US" sz="1300" dirty="0"/>
          </a:p>
        </p:txBody>
      </p:sp>
      <p:sp>
        <p:nvSpPr>
          <p:cNvPr id="3" name="Text 1"/>
          <p:cNvSpPr/>
          <p:nvPr/>
        </p:nvSpPr>
        <p:spPr>
          <a:xfrm>
            <a:off x="812785" y="1119997"/>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B2433"/>
                </a:solidFill>
                <a:latin typeface="Times New Roman" pitchFamily="34" charset="0"/>
                <a:ea typeface="Times New Roman" pitchFamily="34" charset="-122"/>
                <a:cs typeface="Times New Roman" pitchFamily="34" charset="-120"/>
              </a:rPr>
              <a:t>Vận hành 24 giờ, 365 ngày</a:t>
            </a:r>
            <a:endParaRPr lang="en-US" sz="3200" dirty="0"/>
          </a:p>
        </p:txBody>
      </p:sp>
      <p:sp>
        <p:nvSpPr>
          <p:cNvPr id="4" name="Text 2"/>
          <p:cNvSpPr/>
          <p:nvPr/>
        </p:nvSpPr>
        <p:spPr>
          <a:xfrm>
            <a:off x="812785" y="1841280"/>
            <a:ext cx="3400985" cy="1041400"/>
          </a:xfrm>
          <a:prstGeom prst="rect">
            <a:avLst/>
          </a:prstGeom>
          <a:noFill/>
          <a:ln/>
        </p:spPr>
        <p:txBody>
          <a:bodyPr wrap="square" lIns="0" tIns="0" rIns="0" bIns="0" rtlCol="0" anchor="t">
            <a:normAutofit/>
          </a:bodyPr>
          <a:lstStyle/>
          <a:p>
            <a:pPr marL="0" indent="0" algn="l">
              <a:lnSpc>
                <a:spcPts val="8000"/>
              </a:lnSpc>
              <a:buNone/>
            </a:pPr>
            <a:r>
              <a:rPr lang="en-US" sz="8000" b="1" dirty="0">
                <a:solidFill>
                  <a:srgbClr val="2F5D8C"/>
                </a:solidFill>
                <a:latin typeface="Times New Roman" pitchFamily="34" charset="0"/>
                <a:ea typeface="Times New Roman" pitchFamily="34" charset="-122"/>
                <a:cs typeface="Times New Roman" pitchFamily="34" charset="-120"/>
              </a:rPr>
              <a:t>24/365</a:t>
            </a:r>
            <a:endParaRPr lang="en-US" sz="8000" dirty="0"/>
          </a:p>
        </p:txBody>
      </p:sp>
      <p:sp>
        <p:nvSpPr>
          <p:cNvPr id="5" name="Text 3"/>
          <p:cNvSpPr/>
          <p:nvPr/>
        </p:nvSpPr>
        <p:spPr>
          <a:xfrm>
            <a:off x="4419498" y="2054637"/>
            <a:ext cx="7168434" cy="614686"/>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1B2433"/>
                </a:solidFill>
                <a:latin typeface="Times New Roman" pitchFamily="34" charset="0"/>
                <a:ea typeface="Times New Roman" pitchFamily="34" charset="-122"/>
                <a:cs typeface="Times New Roman" pitchFamily="34" charset="-120"/>
              </a:rPr>
              <a:t>Bảo trì thực hiện luân phiên, không gián đoạn dịch vụ. </a:t>
            </a:r>
            <a:r>
              <a:rPr lang="en-US" sz="1600" b="1" dirty="0">
                <a:solidFill>
                  <a:srgbClr val="1B2433"/>
                </a:solidFill>
                <a:latin typeface="Times New Roman" pitchFamily="34" charset="0"/>
                <a:ea typeface="Times New Roman" pitchFamily="34" charset="-122"/>
                <a:cs typeface="Times New Roman" pitchFamily="34" charset="-120"/>
              </a:rPr>
              <a:t>Không có khoản miễn trừ mặc định</a:t>
            </a:r>
            <a:r>
              <a:rPr lang="en-US" sz="1600" dirty="0">
                <a:solidFill>
                  <a:srgbClr val="1B2433"/>
                </a:solidFill>
                <a:latin typeface="Times New Roman" pitchFamily="34" charset="0"/>
                <a:ea typeface="Times New Roman" pitchFamily="34" charset="-122"/>
                <a:cs typeface="Times New Roman" pitchFamily="34" charset="-120"/>
              </a:rPr>
              <a:t>; mọi khoảng dừng đều ghi vào báo cáo khả dụng hằng tháng.</a:t>
            </a:r>
            <a:endParaRPr lang="en-US" sz="1600" dirty="0"/>
          </a:p>
        </p:txBody>
      </p:sp>
      <p:sp>
        <p:nvSpPr>
          <p:cNvPr id="6" name="Shape 4"/>
          <p:cNvSpPr/>
          <p:nvPr/>
        </p:nvSpPr>
        <p:spPr>
          <a:xfrm>
            <a:off x="812785" y="3111205"/>
            <a:ext cx="2527286" cy="1162623"/>
          </a:xfrm>
          <a:prstGeom prst="roundRect">
            <a:avLst>
              <a:gd name="adj" fmla="val 8739"/>
            </a:avLst>
          </a:prstGeom>
          <a:solidFill>
            <a:srgbClr val="ECE8DF"/>
          </a:solidFill>
          <a:ln/>
        </p:spPr>
      </p:sp>
      <p:sp>
        <p:nvSpPr>
          <p:cNvPr id="7" name="Shape 5"/>
          <p:cNvSpPr/>
          <p:nvPr/>
        </p:nvSpPr>
        <p:spPr>
          <a:xfrm>
            <a:off x="812785" y="3111205"/>
            <a:ext cx="2527286" cy="1162623"/>
          </a:xfrm>
          <a:custGeom>
            <a:avLst/>
            <a:gdLst/>
            <a:ahLst/>
            <a:cxnLst/>
            <a:rect l="l" t="t" r="r" b="b"/>
            <a:pathLst>
              <a:path w="2527286" h="1162623">
                <a:moveTo>
                  <a:pt x="0" y="101600"/>
                </a:moveTo>
                <a:lnTo>
                  <a:pt x="0" y="101600"/>
                </a:lnTo>
                <a:arcTo wR="101600" hR="101600" stAng="10800000" swAng="5400000"/>
                <a:lnTo>
                  <a:pt x="2425686" y="0"/>
                </a:lnTo>
                <a:arcTo wR="101600" hR="101600" stAng="16200000" swAng="5400000"/>
                <a:lnTo>
                  <a:pt x="2527286" y="101600"/>
                </a:lnTo>
                <a:arcTo wR="101600" hR="63500" stAng="0" swAng="-5400000"/>
                <a:lnTo>
                  <a:pt x="101600" y="38100"/>
                </a:lnTo>
                <a:arcTo wR="101600" hR="63500" stAng="16200000" swAng="-5400000"/>
                <a:close/>
              </a:path>
            </a:pathLst>
          </a:custGeom>
          <a:solidFill>
            <a:srgbClr val="2F5D8C"/>
          </a:solidFill>
          <a:ln/>
        </p:spPr>
      </p:sp>
      <p:sp>
        <p:nvSpPr>
          <p:cNvPr id="8" name="Text 6"/>
          <p:cNvSpPr/>
          <p:nvPr/>
        </p:nvSpPr>
        <p:spPr>
          <a:xfrm>
            <a:off x="990571" y="3326622"/>
            <a:ext cx="2236866"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33"/>
                </a:solidFill>
                <a:latin typeface="Times New Roman" pitchFamily="34" charset="0"/>
                <a:ea typeface="Times New Roman" pitchFamily="34" charset="-122"/>
                <a:cs typeface="Times New Roman" pitchFamily="34" charset="-120"/>
              </a:rPr>
              <a:t>OWASP ASVS mức 2</a:t>
            </a:r>
            <a:endParaRPr lang="en-US" sz="1600" dirty="0"/>
          </a:p>
        </p:txBody>
      </p:sp>
      <p:sp>
        <p:nvSpPr>
          <p:cNvPr id="9" name="Text 7"/>
          <p:cNvSpPr/>
          <p:nvPr/>
        </p:nvSpPr>
        <p:spPr>
          <a:xfrm>
            <a:off x="990571" y="3633905"/>
            <a:ext cx="2236866"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3"/>
                </a:solidFill>
                <a:latin typeface="Times New Roman" pitchFamily="34" charset="0"/>
                <a:ea typeface="Times New Roman" pitchFamily="34" charset="-122"/>
                <a:cs typeface="Times New Roman" pitchFamily="34" charset="-120"/>
              </a:rPr>
              <a:t>Ma trận yêu cầu, kịch bản, bằng chứng, kết quả.</a:t>
            </a:r>
            <a:endParaRPr lang="en-US" sz="1300" dirty="0"/>
          </a:p>
        </p:txBody>
      </p:sp>
      <p:sp>
        <p:nvSpPr>
          <p:cNvPr id="10" name="Shape 8"/>
          <p:cNvSpPr/>
          <p:nvPr/>
        </p:nvSpPr>
        <p:spPr>
          <a:xfrm>
            <a:off x="3492427" y="3111205"/>
            <a:ext cx="2527359" cy="1162623"/>
          </a:xfrm>
          <a:prstGeom prst="roundRect">
            <a:avLst>
              <a:gd name="adj" fmla="val 8739"/>
            </a:avLst>
          </a:prstGeom>
          <a:solidFill>
            <a:srgbClr val="ECE8DF"/>
          </a:solidFill>
          <a:ln/>
        </p:spPr>
      </p:sp>
      <p:sp>
        <p:nvSpPr>
          <p:cNvPr id="11" name="Shape 9"/>
          <p:cNvSpPr/>
          <p:nvPr/>
        </p:nvSpPr>
        <p:spPr>
          <a:xfrm>
            <a:off x="3492427" y="3111205"/>
            <a:ext cx="2527359" cy="1162623"/>
          </a:xfrm>
          <a:custGeom>
            <a:avLst/>
            <a:gdLst/>
            <a:ahLst/>
            <a:cxnLst/>
            <a:rect l="l" t="t" r="r" b="b"/>
            <a:pathLst>
              <a:path w="2527359" h="1162623">
                <a:moveTo>
                  <a:pt x="0" y="101600"/>
                </a:moveTo>
                <a:lnTo>
                  <a:pt x="0" y="101600"/>
                </a:lnTo>
                <a:arcTo wR="101600" hR="101600" stAng="10800000" swAng="5400000"/>
                <a:lnTo>
                  <a:pt x="2425759" y="0"/>
                </a:lnTo>
                <a:arcTo wR="101600" hR="101600" stAng="16200000" swAng="5400000"/>
                <a:lnTo>
                  <a:pt x="2527359" y="101600"/>
                </a:lnTo>
                <a:arcTo wR="101600" hR="63500" stAng="0" swAng="-5400000"/>
                <a:lnTo>
                  <a:pt x="101600" y="38100"/>
                </a:lnTo>
                <a:arcTo wR="101600" hR="63500" stAng="16200000" swAng="-5400000"/>
                <a:close/>
              </a:path>
            </a:pathLst>
          </a:custGeom>
          <a:solidFill>
            <a:srgbClr val="2F5D8C"/>
          </a:solidFill>
          <a:ln/>
        </p:spPr>
      </p:sp>
      <p:sp>
        <p:nvSpPr>
          <p:cNvPr id="12" name="Text 10"/>
          <p:cNvSpPr/>
          <p:nvPr/>
        </p:nvSpPr>
        <p:spPr>
          <a:xfrm>
            <a:off x="3670212" y="3326622"/>
            <a:ext cx="2236942"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33"/>
                </a:solidFill>
                <a:latin typeface="Times New Roman" pitchFamily="34" charset="0"/>
                <a:ea typeface="Times New Roman" pitchFamily="34" charset="-122"/>
                <a:cs typeface="Times New Roman" pitchFamily="34" charset="-120"/>
              </a:rPr>
              <a:t>Chuẩn CIS Level 1</a:t>
            </a:r>
            <a:endParaRPr lang="en-US" sz="1600" dirty="0"/>
          </a:p>
        </p:txBody>
      </p:sp>
      <p:sp>
        <p:nvSpPr>
          <p:cNvPr id="13" name="Text 11"/>
          <p:cNvSpPr/>
          <p:nvPr/>
        </p:nvSpPr>
        <p:spPr>
          <a:xfrm>
            <a:off x="3670212" y="3633905"/>
            <a:ext cx="2236942"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3"/>
                </a:solidFill>
                <a:latin typeface="Times New Roman" pitchFamily="34" charset="0"/>
                <a:ea typeface="Times New Roman" pitchFamily="34" charset="-122"/>
                <a:cs typeface="Times New Roman" pitchFamily="34" charset="-120"/>
              </a:rPr>
              <a:t>Hệ điều hành, máy chủ web, cơ sở dữ liệu.</a:t>
            </a:r>
            <a:endParaRPr lang="en-US" sz="1300" dirty="0"/>
          </a:p>
        </p:txBody>
      </p:sp>
      <p:sp>
        <p:nvSpPr>
          <p:cNvPr id="14" name="Shape 12"/>
          <p:cNvSpPr/>
          <p:nvPr/>
        </p:nvSpPr>
        <p:spPr>
          <a:xfrm>
            <a:off x="6172142" y="3111205"/>
            <a:ext cx="2527286" cy="1162623"/>
          </a:xfrm>
          <a:prstGeom prst="roundRect">
            <a:avLst>
              <a:gd name="adj" fmla="val 8739"/>
            </a:avLst>
          </a:prstGeom>
          <a:solidFill>
            <a:srgbClr val="ECE8DF"/>
          </a:solidFill>
          <a:ln/>
        </p:spPr>
      </p:sp>
      <p:sp>
        <p:nvSpPr>
          <p:cNvPr id="15" name="Shape 13"/>
          <p:cNvSpPr/>
          <p:nvPr/>
        </p:nvSpPr>
        <p:spPr>
          <a:xfrm>
            <a:off x="6172142" y="3111205"/>
            <a:ext cx="2527286" cy="1162623"/>
          </a:xfrm>
          <a:custGeom>
            <a:avLst/>
            <a:gdLst/>
            <a:ahLst/>
            <a:cxnLst/>
            <a:rect l="l" t="t" r="r" b="b"/>
            <a:pathLst>
              <a:path w="2527286" h="1162623">
                <a:moveTo>
                  <a:pt x="0" y="101600"/>
                </a:moveTo>
                <a:lnTo>
                  <a:pt x="0" y="101600"/>
                </a:lnTo>
                <a:arcTo wR="101600" hR="101600" stAng="10800000" swAng="5400000"/>
                <a:lnTo>
                  <a:pt x="2425686" y="0"/>
                </a:lnTo>
                <a:arcTo wR="101600" hR="101600" stAng="16200000" swAng="5400000"/>
                <a:lnTo>
                  <a:pt x="2527286" y="101600"/>
                </a:lnTo>
                <a:arcTo wR="101600" hR="63500" stAng="0" swAng="-5400000"/>
                <a:lnTo>
                  <a:pt x="101600" y="38100"/>
                </a:lnTo>
                <a:arcTo wR="101600" hR="63500" stAng="16200000" swAng="-5400000"/>
                <a:close/>
              </a:path>
            </a:pathLst>
          </a:custGeom>
          <a:solidFill>
            <a:srgbClr val="2F5D8C"/>
          </a:solidFill>
          <a:ln/>
        </p:spPr>
      </p:sp>
      <p:sp>
        <p:nvSpPr>
          <p:cNvPr id="16" name="Text 14"/>
          <p:cNvSpPr/>
          <p:nvPr/>
        </p:nvSpPr>
        <p:spPr>
          <a:xfrm>
            <a:off x="6349927" y="3326622"/>
            <a:ext cx="2236866"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33"/>
                </a:solidFill>
                <a:latin typeface="Times New Roman" pitchFamily="34" charset="0"/>
                <a:ea typeface="Times New Roman" pitchFamily="34" charset="-122"/>
                <a:cs typeface="Times New Roman" pitchFamily="34" charset="-120"/>
              </a:rPr>
              <a:t>Quyền tối thiểu</a:t>
            </a:r>
            <a:endParaRPr lang="en-US" sz="1600" dirty="0"/>
          </a:p>
        </p:txBody>
      </p:sp>
      <p:sp>
        <p:nvSpPr>
          <p:cNvPr id="17" name="Text 15"/>
          <p:cNvSpPr/>
          <p:nvPr/>
        </p:nvSpPr>
        <p:spPr>
          <a:xfrm>
            <a:off x="6349927" y="3633905"/>
            <a:ext cx="2236866"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3"/>
                </a:solidFill>
                <a:latin typeface="Times New Roman" pitchFamily="34" charset="0"/>
                <a:ea typeface="Times New Roman" pitchFamily="34" charset="-122"/>
                <a:cs typeface="Times New Roman" pitchFamily="34" charset="-120"/>
              </a:rPr>
              <a:t>Xác thực phía máy chủ cho mọi yêu cầu.</a:t>
            </a:r>
            <a:endParaRPr lang="en-US" sz="1300" dirty="0"/>
          </a:p>
        </p:txBody>
      </p:sp>
      <p:sp>
        <p:nvSpPr>
          <p:cNvPr id="18" name="Shape 16"/>
          <p:cNvSpPr/>
          <p:nvPr/>
        </p:nvSpPr>
        <p:spPr>
          <a:xfrm>
            <a:off x="8851784" y="3111205"/>
            <a:ext cx="2527359" cy="1162623"/>
          </a:xfrm>
          <a:prstGeom prst="roundRect">
            <a:avLst>
              <a:gd name="adj" fmla="val 8739"/>
            </a:avLst>
          </a:prstGeom>
          <a:solidFill>
            <a:srgbClr val="ECE8DF"/>
          </a:solidFill>
          <a:ln/>
        </p:spPr>
      </p:sp>
      <p:sp>
        <p:nvSpPr>
          <p:cNvPr id="19" name="Shape 17"/>
          <p:cNvSpPr/>
          <p:nvPr/>
        </p:nvSpPr>
        <p:spPr>
          <a:xfrm>
            <a:off x="8851784" y="3111205"/>
            <a:ext cx="2527359" cy="1162623"/>
          </a:xfrm>
          <a:custGeom>
            <a:avLst/>
            <a:gdLst/>
            <a:ahLst/>
            <a:cxnLst/>
            <a:rect l="l" t="t" r="r" b="b"/>
            <a:pathLst>
              <a:path w="2527359" h="1162623">
                <a:moveTo>
                  <a:pt x="0" y="101600"/>
                </a:moveTo>
                <a:lnTo>
                  <a:pt x="0" y="101600"/>
                </a:lnTo>
                <a:arcTo wR="101600" hR="101600" stAng="10800000" swAng="5400000"/>
                <a:lnTo>
                  <a:pt x="2425759" y="0"/>
                </a:lnTo>
                <a:arcTo wR="101600" hR="101600" stAng="16200000" swAng="5400000"/>
                <a:lnTo>
                  <a:pt x="2527359" y="101600"/>
                </a:lnTo>
                <a:arcTo wR="101600" hR="63500" stAng="0" swAng="-5400000"/>
                <a:lnTo>
                  <a:pt x="101600" y="38100"/>
                </a:lnTo>
                <a:arcTo wR="101600" hR="63500" stAng="16200000" swAng="-5400000"/>
                <a:close/>
              </a:path>
            </a:pathLst>
          </a:custGeom>
          <a:solidFill>
            <a:srgbClr val="2F5D8C"/>
          </a:solidFill>
          <a:ln/>
        </p:spPr>
      </p:sp>
      <p:sp>
        <p:nvSpPr>
          <p:cNvPr id="20" name="Text 18"/>
          <p:cNvSpPr/>
          <p:nvPr/>
        </p:nvSpPr>
        <p:spPr>
          <a:xfrm>
            <a:off x="9029569" y="3326622"/>
            <a:ext cx="2236942"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33"/>
                </a:solidFill>
                <a:latin typeface="Times New Roman" pitchFamily="34" charset="0"/>
                <a:ea typeface="Times New Roman" pitchFamily="34" charset="-122"/>
                <a:cs typeface="Times New Roman" pitchFamily="34" charset="-120"/>
              </a:rPr>
              <a:t>Khôi phục 4 giờ</a:t>
            </a:r>
            <a:endParaRPr lang="en-US" sz="1600" dirty="0"/>
          </a:p>
        </p:txBody>
      </p:sp>
      <p:sp>
        <p:nvSpPr>
          <p:cNvPr id="21" name="Text 19"/>
          <p:cNvSpPr/>
          <p:nvPr/>
        </p:nvSpPr>
        <p:spPr>
          <a:xfrm>
            <a:off x="9029569" y="3633905"/>
            <a:ext cx="2236942"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3"/>
                </a:solidFill>
                <a:latin typeface="Times New Roman" pitchFamily="34" charset="0"/>
                <a:ea typeface="Times New Roman" pitchFamily="34" charset="-122"/>
                <a:cs typeface="Times New Roman" pitchFamily="34" charset="-120"/>
              </a:rPr>
              <a:t>Mất dữ liệu tối đa 15 phút; sao lưu hằng ngày.</a:t>
            </a:r>
            <a:endParaRPr lang="en-US" sz="1300" dirty="0"/>
          </a:p>
        </p:txBody>
      </p:sp>
      <p:sp>
        <p:nvSpPr>
          <p:cNvPr id="22" name="Text 20"/>
          <p:cNvSpPr/>
          <p:nvPr/>
        </p:nvSpPr>
        <p:spPr>
          <a:xfrm>
            <a:off x="812785" y="6238211"/>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Times New Roman" pitchFamily="34" charset="0"/>
                <a:ea typeface="Times New Roman" pitchFamily="34" charset="-122"/>
                <a:cs typeface="Times New Roman" pitchFamily="34" charset="-120"/>
              </a:rPr>
              <a:t>Công ty TNHH Group 6 · Đề xuất website thương mại điện tử ABC Wear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85" y="812788"/>
            <a:ext cx="10883348" cy="256469"/>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5482F"/>
                </a:solidFill>
                <a:latin typeface="Times New Roman" pitchFamily="34" charset="0"/>
                <a:ea typeface="Times New Roman" pitchFamily="34" charset="-122"/>
                <a:cs typeface="Times New Roman" pitchFamily="34" charset="-120"/>
              </a:rPr>
              <a:t>06 · TIẾN ĐỘ</a:t>
            </a:r>
            <a:endParaRPr lang="en-US" sz="1300" dirty="0"/>
          </a:p>
        </p:txBody>
      </p:sp>
      <p:sp>
        <p:nvSpPr>
          <p:cNvPr id="3" name="Text 1"/>
          <p:cNvSpPr/>
          <p:nvPr/>
        </p:nvSpPr>
        <p:spPr>
          <a:xfrm>
            <a:off x="812785" y="1120000"/>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B2433"/>
                </a:solidFill>
                <a:latin typeface="Times New Roman" pitchFamily="34" charset="0"/>
                <a:ea typeface="Times New Roman" pitchFamily="34" charset="-122"/>
                <a:cs typeface="Times New Roman" pitchFamily="34" charset="-120"/>
              </a:rPr>
              <a:t>Tiến độ theo sprint</a:t>
            </a:r>
            <a:endParaRPr lang="en-US" sz="3200" dirty="0"/>
          </a:p>
        </p:txBody>
      </p:sp>
      <p:sp>
        <p:nvSpPr>
          <p:cNvPr id="4" name="Shape 2"/>
          <p:cNvSpPr/>
          <p:nvPr/>
        </p:nvSpPr>
        <p:spPr>
          <a:xfrm>
            <a:off x="812785" y="1841283"/>
            <a:ext cx="1287419" cy="2034793"/>
          </a:xfrm>
          <a:prstGeom prst="rect">
            <a:avLst/>
          </a:prstGeom>
          <a:solidFill>
            <a:srgbClr val="ECE8DF"/>
          </a:solidFill>
          <a:ln/>
        </p:spPr>
      </p:sp>
      <p:sp>
        <p:nvSpPr>
          <p:cNvPr id="5" name="Shape 3"/>
          <p:cNvSpPr/>
          <p:nvPr/>
        </p:nvSpPr>
        <p:spPr>
          <a:xfrm>
            <a:off x="812785" y="1860333"/>
            <a:ext cx="1287419" cy="0"/>
          </a:xfrm>
          <a:prstGeom prst="line">
            <a:avLst/>
          </a:prstGeom>
          <a:noFill/>
          <a:ln w="38100">
            <a:solidFill>
              <a:srgbClr val="2F5D8C"/>
            </a:solidFill>
            <a:prstDash val="solid"/>
          </a:ln>
        </p:spPr>
      </p:sp>
      <p:sp>
        <p:nvSpPr>
          <p:cNvPr id="6" name="Text 4"/>
          <p:cNvSpPr/>
          <p:nvPr/>
        </p:nvSpPr>
        <p:spPr>
          <a:xfrm>
            <a:off x="914356" y="2005837"/>
            <a:ext cx="1135077"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F5D8C"/>
                </a:solidFill>
                <a:latin typeface="Times New Roman" pitchFamily="34" charset="0"/>
                <a:ea typeface="Times New Roman" pitchFamily="34" charset="-122"/>
                <a:cs typeface="Times New Roman" pitchFamily="34" charset="-120"/>
              </a:rPr>
              <a:t>S0</a:t>
            </a:r>
            <a:endParaRPr lang="en-US" sz="1800" dirty="0"/>
          </a:p>
        </p:txBody>
      </p:sp>
      <p:sp>
        <p:nvSpPr>
          <p:cNvPr id="7" name="Text 5"/>
          <p:cNvSpPr/>
          <p:nvPr/>
        </p:nvSpPr>
        <p:spPr>
          <a:xfrm>
            <a:off x="914356" y="2376624"/>
            <a:ext cx="1135077"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Times New Roman" pitchFamily="34" charset="0"/>
                <a:ea typeface="Times New Roman" pitchFamily="34" charset="-122"/>
                <a:cs typeface="Times New Roman" pitchFamily="34" charset="-120"/>
              </a:rPr>
              <a:t>25/03–07/04</a:t>
            </a:r>
            <a:endParaRPr lang="en-US" sz="1300" dirty="0"/>
          </a:p>
        </p:txBody>
      </p:sp>
      <p:sp>
        <p:nvSpPr>
          <p:cNvPr id="8" name="Text 6"/>
          <p:cNvSpPr/>
          <p:nvPr/>
        </p:nvSpPr>
        <p:spPr>
          <a:xfrm>
            <a:off x="914356" y="2658480"/>
            <a:ext cx="1135077" cy="668999"/>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263"/>
                </a:solidFill>
                <a:latin typeface="Times New Roman" pitchFamily="34" charset="0"/>
                <a:ea typeface="Times New Roman" pitchFamily="34" charset="-122"/>
                <a:cs typeface="Times New Roman" pitchFamily="34" charset="-120"/>
              </a:rPr>
              <a:t>Khởi động, khảo sát, dựng môi trường</a:t>
            </a:r>
            <a:endParaRPr lang="en-US" sz="1300" dirty="0"/>
          </a:p>
        </p:txBody>
      </p:sp>
      <p:sp>
        <p:nvSpPr>
          <p:cNvPr id="9" name="Text 7"/>
          <p:cNvSpPr/>
          <p:nvPr/>
        </p:nvSpPr>
        <p:spPr>
          <a:xfrm>
            <a:off x="914356" y="3352862"/>
            <a:ext cx="1135077" cy="223544"/>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1B2433"/>
                </a:solidFill>
                <a:latin typeface="Times New Roman" pitchFamily="34" charset="0"/>
                <a:ea typeface="Times New Roman" pitchFamily="34" charset="-122"/>
                <a:cs typeface="Times New Roman" pitchFamily="34" charset="-120"/>
              </a:rPr>
              <a:t>D01 · T0 25/03</a:t>
            </a:r>
            <a:endParaRPr lang="en-US" sz="1200" dirty="0"/>
          </a:p>
        </p:txBody>
      </p:sp>
      <p:sp>
        <p:nvSpPr>
          <p:cNvPr id="10" name="Shape 8"/>
          <p:cNvSpPr/>
          <p:nvPr/>
        </p:nvSpPr>
        <p:spPr>
          <a:xfrm>
            <a:off x="2138275" y="1841283"/>
            <a:ext cx="1287492" cy="2034793"/>
          </a:xfrm>
          <a:prstGeom prst="rect">
            <a:avLst/>
          </a:prstGeom>
          <a:solidFill>
            <a:srgbClr val="F6F4EF"/>
          </a:solidFill>
          <a:ln/>
        </p:spPr>
      </p:sp>
      <p:sp>
        <p:nvSpPr>
          <p:cNvPr id="11" name="Shape 9"/>
          <p:cNvSpPr/>
          <p:nvPr/>
        </p:nvSpPr>
        <p:spPr>
          <a:xfrm>
            <a:off x="2138275" y="1860333"/>
            <a:ext cx="1287492" cy="0"/>
          </a:xfrm>
          <a:prstGeom prst="line">
            <a:avLst/>
          </a:prstGeom>
          <a:noFill/>
          <a:ln w="38100">
            <a:solidFill>
              <a:srgbClr val="2F5D8C"/>
            </a:solidFill>
            <a:prstDash val="solid"/>
          </a:ln>
        </p:spPr>
      </p:sp>
      <p:sp>
        <p:nvSpPr>
          <p:cNvPr id="12" name="Text 10"/>
          <p:cNvSpPr/>
          <p:nvPr/>
        </p:nvSpPr>
        <p:spPr>
          <a:xfrm>
            <a:off x="2239845" y="2005837"/>
            <a:ext cx="1135151"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F5D8C"/>
                </a:solidFill>
                <a:latin typeface="Times New Roman" pitchFamily="34" charset="0"/>
                <a:ea typeface="Times New Roman" pitchFamily="34" charset="-122"/>
                <a:cs typeface="Times New Roman" pitchFamily="34" charset="-120"/>
              </a:rPr>
              <a:t>S1</a:t>
            </a:r>
            <a:endParaRPr lang="en-US" sz="1800" dirty="0"/>
          </a:p>
        </p:txBody>
      </p:sp>
      <p:sp>
        <p:nvSpPr>
          <p:cNvPr id="13" name="Text 11"/>
          <p:cNvSpPr/>
          <p:nvPr/>
        </p:nvSpPr>
        <p:spPr>
          <a:xfrm>
            <a:off x="2239845" y="2376624"/>
            <a:ext cx="1135151"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Times New Roman" pitchFamily="34" charset="0"/>
                <a:ea typeface="Times New Roman" pitchFamily="34" charset="-122"/>
                <a:cs typeface="Times New Roman" pitchFamily="34" charset="-120"/>
              </a:rPr>
              <a:t>08/04–21/04</a:t>
            </a:r>
            <a:endParaRPr lang="en-US" sz="1300" dirty="0"/>
          </a:p>
        </p:txBody>
      </p:sp>
      <p:sp>
        <p:nvSpPr>
          <p:cNvPr id="14" name="Text 12"/>
          <p:cNvSpPr/>
          <p:nvPr/>
        </p:nvSpPr>
        <p:spPr>
          <a:xfrm>
            <a:off x="2239845" y="2658480"/>
            <a:ext cx="1135151" cy="45446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263"/>
                </a:solidFill>
                <a:latin typeface="Times New Roman" pitchFamily="34" charset="0"/>
                <a:ea typeface="Times New Roman" pitchFamily="34" charset="-122"/>
                <a:cs typeface="Times New Roman" pitchFamily="34" charset="-120"/>
              </a:rPr>
              <a:t>Đặc tả và thiết kế</a:t>
            </a:r>
            <a:endParaRPr lang="en-US" sz="1300" dirty="0"/>
          </a:p>
        </p:txBody>
      </p:sp>
      <p:sp>
        <p:nvSpPr>
          <p:cNvPr id="15" name="Text 13"/>
          <p:cNvSpPr/>
          <p:nvPr/>
        </p:nvSpPr>
        <p:spPr>
          <a:xfrm>
            <a:off x="2239845" y="3138326"/>
            <a:ext cx="1135151" cy="421687"/>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1B2433"/>
                </a:solidFill>
                <a:latin typeface="Times New Roman" pitchFamily="34" charset="0"/>
                <a:ea typeface="Times New Roman" pitchFamily="34" charset="-122"/>
                <a:cs typeface="Times New Roman" pitchFamily="34" charset="-120"/>
              </a:rPr>
              <a:t>D02 10/04 · D03 18/04</a:t>
            </a:r>
            <a:endParaRPr lang="en-US" sz="1200" dirty="0"/>
          </a:p>
        </p:txBody>
      </p:sp>
      <p:sp>
        <p:nvSpPr>
          <p:cNvPr id="16" name="Shape 14"/>
          <p:cNvSpPr/>
          <p:nvPr/>
        </p:nvSpPr>
        <p:spPr>
          <a:xfrm>
            <a:off x="3463837" y="1841283"/>
            <a:ext cx="1287492" cy="2034793"/>
          </a:xfrm>
          <a:prstGeom prst="rect">
            <a:avLst/>
          </a:prstGeom>
          <a:solidFill>
            <a:srgbClr val="ECE8DF"/>
          </a:solidFill>
          <a:ln/>
        </p:spPr>
      </p:sp>
      <p:sp>
        <p:nvSpPr>
          <p:cNvPr id="17" name="Shape 15"/>
          <p:cNvSpPr/>
          <p:nvPr/>
        </p:nvSpPr>
        <p:spPr>
          <a:xfrm>
            <a:off x="3463837" y="1860333"/>
            <a:ext cx="1287492" cy="0"/>
          </a:xfrm>
          <a:prstGeom prst="line">
            <a:avLst/>
          </a:prstGeom>
          <a:noFill/>
          <a:ln w="38100">
            <a:solidFill>
              <a:srgbClr val="2F5D8C"/>
            </a:solidFill>
            <a:prstDash val="solid"/>
          </a:ln>
        </p:spPr>
      </p:sp>
      <p:sp>
        <p:nvSpPr>
          <p:cNvPr id="18" name="Text 16"/>
          <p:cNvSpPr/>
          <p:nvPr/>
        </p:nvSpPr>
        <p:spPr>
          <a:xfrm>
            <a:off x="3565408" y="2005837"/>
            <a:ext cx="1135151"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F5D8C"/>
                </a:solidFill>
                <a:latin typeface="Times New Roman" pitchFamily="34" charset="0"/>
                <a:ea typeface="Times New Roman" pitchFamily="34" charset="-122"/>
                <a:cs typeface="Times New Roman" pitchFamily="34" charset="-120"/>
              </a:rPr>
              <a:t>S2</a:t>
            </a:r>
            <a:endParaRPr lang="en-US" sz="1800" dirty="0"/>
          </a:p>
        </p:txBody>
      </p:sp>
      <p:sp>
        <p:nvSpPr>
          <p:cNvPr id="19" name="Text 17"/>
          <p:cNvSpPr/>
          <p:nvPr/>
        </p:nvSpPr>
        <p:spPr>
          <a:xfrm>
            <a:off x="3565408" y="2376624"/>
            <a:ext cx="1135151"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Times New Roman" pitchFamily="34" charset="0"/>
                <a:ea typeface="Times New Roman" pitchFamily="34" charset="-122"/>
                <a:cs typeface="Times New Roman" pitchFamily="34" charset="-120"/>
              </a:rPr>
              <a:t>22/04–05/05</a:t>
            </a:r>
            <a:endParaRPr lang="en-US" sz="1300" dirty="0"/>
          </a:p>
        </p:txBody>
      </p:sp>
      <p:sp>
        <p:nvSpPr>
          <p:cNvPr id="20" name="Text 18"/>
          <p:cNvSpPr/>
          <p:nvPr/>
        </p:nvSpPr>
        <p:spPr>
          <a:xfrm>
            <a:off x="3565408" y="2658480"/>
            <a:ext cx="1135151" cy="45446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263"/>
                </a:solidFill>
                <a:latin typeface="Times New Roman" pitchFamily="34" charset="0"/>
                <a:ea typeface="Times New Roman" pitchFamily="34" charset="-122"/>
                <a:cs typeface="Times New Roman" pitchFamily="34" charset="-120"/>
              </a:rPr>
              <a:t>Tìm kiếm, tài khoản, giỏ hàng</a:t>
            </a:r>
            <a:endParaRPr lang="en-US" sz="1300" dirty="0"/>
          </a:p>
        </p:txBody>
      </p:sp>
      <p:sp>
        <p:nvSpPr>
          <p:cNvPr id="21" name="Text 19"/>
          <p:cNvSpPr/>
          <p:nvPr/>
        </p:nvSpPr>
        <p:spPr>
          <a:xfrm>
            <a:off x="3565408" y="3138326"/>
            <a:ext cx="1135151" cy="223544"/>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1B2433"/>
                </a:solidFill>
                <a:latin typeface="Times New Roman" pitchFamily="34" charset="0"/>
                <a:ea typeface="Times New Roman" pitchFamily="34" charset="-122"/>
                <a:cs typeface="Times New Roman" pitchFamily="34" charset="-120"/>
              </a:rPr>
              <a:t>Nghỉ lễ 30/4–1/5</a:t>
            </a:r>
            <a:endParaRPr lang="en-US" sz="1200" dirty="0"/>
          </a:p>
        </p:txBody>
      </p:sp>
      <p:sp>
        <p:nvSpPr>
          <p:cNvPr id="22" name="Shape 20"/>
          <p:cNvSpPr/>
          <p:nvPr/>
        </p:nvSpPr>
        <p:spPr>
          <a:xfrm>
            <a:off x="4789400" y="1841283"/>
            <a:ext cx="1287492" cy="2034793"/>
          </a:xfrm>
          <a:prstGeom prst="rect">
            <a:avLst/>
          </a:prstGeom>
          <a:solidFill>
            <a:srgbClr val="F6F4EF"/>
          </a:solidFill>
          <a:ln/>
        </p:spPr>
      </p:sp>
      <p:sp>
        <p:nvSpPr>
          <p:cNvPr id="23" name="Shape 21"/>
          <p:cNvSpPr/>
          <p:nvPr/>
        </p:nvSpPr>
        <p:spPr>
          <a:xfrm>
            <a:off x="4789400" y="1860333"/>
            <a:ext cx="1287492" cy="0"/>
          </a:xfrm>
          <a:prstGeom prst="line">
            <a:avLst/>
          </a:prstGeom>
          <a:noFill/>
          <a:ln w="38100">
            <a:solidFill>
              <a:srgbClr val="2F5D8C"/>
            </a:solidFill>
            <a:prstDash val="solid"/>
          </a:ln>
        </p:spPr>
      </p:sp>
      <p:sp>
        <p:nvSpPr>
          <p:cNvPr id="24" name="Text 22"/>
          <p:cNvSpPr/>
          <p:nvPr/>
        </p:nvSpPr>
        <p:spPr>
          <a:xfrm>
            <a:off x="4890970" y="2005837"/>
            <a:ext cx="1135151"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F5D8C"/>
                </a:solidFill>
                <a:latin typeface="Times New Roman" pitchFamily="34" charset="0"/>
                <a:ea typeface="Times New Roman" pitchFamily="34" charset="-122"/>
                <a:cs typeface="Times New Roman" pitchFamily="34" charset="-120"/>
              </a:rPr>
              <a:t>S3</a:t>
            </a:r>
            <a:endParaRPr lang="en-US" sz="1800" dirty="0"/>
          </a:p>
        </p:txBody>
      </p:sp>
      <p:sp>
        <p:nvSpPr>
          <p:cNvPr id="25" name="Text 23"/>
          <p:cNvSpPr/>
          <p:nvPr/>
        </p:nvSpPr>
        <p:spPr>
          <a:xfrm>
            <a:off x="4890970" y="2376624"/>
            <a:ext cx="1135151"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Times New Roman" pitchFamily="34" charset="0"/>
                <a:ea typeface="Times New Roman" pitchFamily="34" charset="-122"/>
                <a:cs typeface="Times New Roman" pitchFamily="34" charset="-120"/>
              </a:rPr>
              <a:t>06/05–19/05</a:t>
            </a:r>
            <a:endParaRPr lang="en-US" sz="1300" dirty="0"/>
          </a:p>
        </p:txBody>
      </p:sp>
      <p:sp>
        <p:nvSpPr>
          <p:cNvPr id="26" name="Text 24"/>
          <p:cNvSpPr/>
          <p:nvPr/>
        </p:nvSpPr>
        <p:spPr>
          <a:xfrm>
            <a:off x="4890970" y="2658480"/>
            <a:ext cx="1135151" cy="668999"/>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263"/>
                </a:solidFill>
                <a:latin typeface="Times New Roman" pitchFamily="34" charset="0"/>
                <a:ea typeface="Times New Roman" pitchFamily="34" charset="-122"/>
                <a:cs typeface="Times New Roman" pitchFamily="34" charset="-120"/>
              </a:rPr>
              <a:t>Danh mục, đặt hàng, API tích hợp</a:t>
            </a:r>
            <a:endParaRPr lang="en-US" sz="1300" dirty="0"/>
          </a:p>
        </p:txBody>
      </p:sp>
      <p:sp>
        <p:nvSpPr>
          <p:cNvPr id="27" name="Text 25"/>
          <p:cNvSpPr/>
          <p:nvPr/>
        </p:nvSpPr>
        <p:spPr>
          <a:xfrm>
            <a:off x="4890970" y="3352862"/>
            <a:ext cx="1135151" cy="421687"/>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1B2433"/>
                </a:solidFill>
                <a:latin typeface="Times New Roman" pitchFamily="34" charset="0"/>
                <a:ea typeface="Times New Roman" pitchFamily="34" charset="-122"/>
                <a:cs typeface="Times New Roman" pitchFamily="34" charset="-120"/>
              </a:rPr>
              <a:t>Kiểm thử đơn vị 16/05</a:t>
            </a:r>
            <a:endParaRPr lang="en-US" sz="1200" dirty="0"/>
          </a:p>
        </p:txBody>
      </p:sp>
      <p:sp>
        <p:nvSpPr>
          <p:cNvPr id="28" name="Shape 26"/>
          <p:cNvSpPr/>
          <p:nvPr/>
        </p:nvSpPr>
        <p:spPr>
          <a:xfrm>
            <a:off x="6114962" y="1841283"/>
            <a:ext cx="1287492" cy="2034793"/>
          </a:xfrm>
          <a:prstGeom prst="rect">
            <a:avLst/>
          </a:prstGeom>
          <a:solidFill>
            <a:srgbClr val="ECE8DF"/>
          </a:solidFill>
          <a:ln/>
        </p:spPr>
      </p:sp>
      <p:sp>
        <p:nvSpPr>
          <p:cNvPr id="29" name="Shape 27"/>
          <p:cNvSpPr/>
          <p:nvPr/>
        </p:nvSpPr>
        <p:spPr>
          <a:xfrm>
            <a:off x="6114962" y="1860333"/>
            <a:ext cx="1287492" cy="0"/>
          </a:xfrm>
          <a:prstGeom prst="line">
            <a:avLst/>
          </a:prstGeom>
          <a:noFill/>
          <a:ln w="38100">
            <a:solidFill>
              <a:srgbClr val="2F5D8C"/>
            </a:solidFill>
            <a:prstDash val="solid"/>
          </a:ln>
        </p:spPr>
      </p:sp>
      <p:sp>
        <p:nvSpPr>
          <p:cNvPr id="30" name="Text 28"/>
          <p:cNvSpPr/>
          <p:nvPr/>
        </p:nvSpPr>
        <p:spPr>
          <a:xfrm>
            <a:off x="6216533" y="2005837"/>
            <a:ext cx="1135151"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F5D8C"/>
                </a:solidFill>
                <a:latin typeface="Times New Roman" pitchFamily="34" charset="0"/>
                <a:ea typeface="Times New Roman" pitchFamily="34" charset="-122"/>
                <a:cs typeface="Times New Roman" pitchFamily="34" charset="-120"/>
              </a:rPr>
              <a:t>S4</a:t>
            </a:r>
            <a:endParaRPr lang="en-US" sz="1800" dirty="0"/>
          </a:p>
        </p:txBody>
      </p:sp>
      <p:sp>
        <p:nvSpPr>
          <p:cNvPr id="31" name="Text 29"/>
          <p:cNvSpPr/>
          <p:nvPr/>
        </p:nvSpPr>
        <p:spPr>
          <a:xfrm>
            <a:off x="6216533" y="2376624"/>
            <a:ext cx="1135151"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Times New Roman" pitchFamily="34" charset="0"/>
                <a:ea typeface="Times New Roman" pitchFamily="34" charset="-122"/>
                <a:cs typeface="Times New Roman" pitchFamily="34" charset="-120"/>
              </a:rPr>
              <a:t>20/05–02/06</a:t>
            </a:r>
            <a:endParaRPr lang="en-US" sz="1300" dirty="0"/>
          </a:p>
        </p:txBody>
      </p:sp>
      <p:sp>
        <p:nvSpPr>
          <p:cNvPr id="32" name="Text 30"/>
          <p:cNvSpPr/>
          <p:nvPr/>
        </p:nvSpPr>
        <p:spPr>
          <a:xfrm>
            <a:off x="6216533" y="2658480"/>
            <a:ext cx="1135151" cy="668999"/>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263"/>
                </a:solidFill>
                <a:latin typeface="Times New Roman" pitchFamily="34" charset="0"/>
                <a:ea typeface="Times New Roman" pitchFamily="34" charset="-122"/>
                <a:cs typeface="Times New Roman" pitchFamily="34" charset="-120"/>
              </a:rPr>
              <a:t>Thanh toán, đồng bộ hai chiều</a:t>
            </a:r>
            <a:endParaRPr lang="en-US" sz="1300" dirty="0"/>
          </a:p>
        </p:txBody>
      </p:sp>
      <p:sp>
        <p:nvSpPr>
          <p:cNvPr id="33" name="Text 31"/>
          <p:cNvSpPr/>
          <p:nvPr/>
        </p:nvSpPr>
        <p:spPr>
          <a:xfrm>
            <a:off x="6216533" y="3352862"/>
            <a:ext cx="1135151" cy="421687"/>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1B2433"/>
                </a:solidFill>
                <a:latin typeface="Times New Roman" pitchFamily="34" charset="0"/>
                <a:ea typeface="Times New Roman" pitchFamily="34" charset="-122"/>
                <a:cs typeface="Times New Roman" pitchFamily="34" charset="-120"/>
              </a:rPr>
              <a:t>Xong tích hợp 28/05</a:t>
            </a:r>
            <a:endParaRPr lang="en-US" sz="1200" dirty="0"/>
          </a:p>
        </p:txBody>
      </p:sp>
      <p:sp>
        <p:nvSpPr>
          <p:cNvPr id="34" name="Shape 32"/>
          <p:cNvSpPr/>
          <p:nvPr/>
        </p:nvSpPr>
        <p:spPr>
          <a:xfrm>
            <a:off x="7440525" y="1841283"/>
            <a:ext cx="1287492" cy="2034793"/>
          </a:xfrm>
          <a:prstGeom prst="rect">
            <a:avLst/>
          </a:prstGeom>
          <a:solidFill>
            <a:srgbClr val="F6F4EF"/>
          </a:solidFill>
          <a:ln/>
        </p:spPr>
      </p:sp>
      <p:sp>
        <p:nvSpPr>
          <p:cNvPr id="35" name="Shape 33"/>
          <p:cNvSpPr/>
          <p:nvPr/>
        </p:nvSpPr>
        <p:spPr>
          <a:xfrm>
            <a:off x="7440525" y="1860333"/>
            <a:ext cx="1287492" cy="0"/>
          </a:xfrm>
          <a:prstGeom prst="line">
            <a:avLst/>
          </a:prstGeom>
          <a:noFill/>
          <a:ln w="38100">
            <a:solidFill>
              <a:srgbClr val="2F5D8C"/>
            </a:solidFill>
            <a:prstDash val="solid"/>
          </a:ln>
        </p:spPr>
      </p:sp>
      <p:sp>
        <p:nvSpPr>
          <p:cNvPr id="36" name="Text 34"/>
          <p:cNvSpPr/>
          <p:nvPr/>
        </p:nvSpPr>
        <p:spPr>
          <a:xfrm>
            <a:off x="7542096" y="2005837"/>
            <a:ext cx="1135151"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F5D8C"/>
                </a:solidFill>
                <a:latin typeface="Times New Roman" pitchFamily="34" charset="0"/>
                <a:ea typeface="Times New Roman" pitchFamily="34" charset="-122"/>
                <a:cs typeface="Times New Roman" pitchFamily="34" charset="-120"/>
              </a:rPr>
              <a:t>S5</a:t>
            </a:r>
            <a:endParaRPr lang="en-US" sz="1800" dirty="0"/>
          </a:p>
        </p:txBody>
      </p:sp>
      <p:sp>
        <p:nvSpPr>
          <p:cNvPr id="37" name="Text 35"/>
          <p:cNvSpPr/>
          <p:nvPr/>
        </p:nvSpPr>
        <p:spPr>
          <a:xfrm>
            <a:off x="7542096" y="2376624"/>
            <a:ext cx="1135151"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Times New Roman" pitchFamily="34" charset="0"/>
                <a:ea typeface="Times New Roman" pitchFamily="34" charset="-122"/>
                <a:cs typeface="Times New Roman" pitchFamily="34" charset="-120"/>
              </a:rPr>
              <a:t>03/06–16/06</a:t>
            </a:r>
            <a:endParaRPr lang="en-US" sz="1300" dirty="0"/>
          </a:p>
        </p:txBody>
      </p:sp>
      <p:sp>
        <p:nvSpPr>
          <p:cNvPr id="38" name="Text 36"/>
          <p:cNvSpPr/>
          <p:nvPr/>
        </p:nvSpPr>
        <p:spPr>
          <a:xfrm>
            <a:off x="7542096" y="2658480"/>
            <a:ext cx="1135151" cy="45446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263"/>
                </a:solidFill>
                <a:latin typeface="Times New Roman" pitchFamily="34" charset="0"/>
                <a:ea typeface="Times New Roman" pitchFamily="34" charset="-122"/>
                <a:cs typeface="Times New Roman" pitchFamily="34" charset="-120"/>
              </a:rPr>
              <a:t>Thử tải trên PRD, bảo mật</a:t>
            </a:r>
            <a:endParaRPr lang="en-US" sz="1300" dirty="0"/>
          </a:p>
        </p:txBody>
      </p:sp>
      <p:sp>
        <p:nvSpPr>
          <p:cNvPr id="39" name="Text 37"/>
          <p:cNvSpPr/>
          <p:nvPr/>
        </p:nvSpPr>
        <p:spPr>
          <a:xfrm>
            <a:off x="7542096" y="3138326"/>
            <a:ext cx="1135151" cy="421687"/>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1B2433"/>
                </a:solidFill>
                <a:latin typeface="Times New Roman" pitchFamily="34" charset="0"/>
                <a:ea typeface="Times New Roman" pitchFamily="34" charset="-122"/>
                <a:cs typeface="Times New Roman" pitchFamily="34" charset="-120"/>
              </a:rPr>
              <a:t>Hiệu năng 04/06 · bảo mật 10/06</a:t>
            </a:r>
            <a:endParaRPr lang="en-US" sz="1200" dirty="0"/>
          </a:p>
        </p:txBody>
      </p:sp>
      <p:sp>
        <p:nvSpPr>
          <p:cNvPr id="40" name="Shape 38"/>
          <p:cNvSpPr/>
          <p:nvPr/>
        </p:nvSpPr>
        <p:spPr>
          <a:xfrm>
            <a:off x="8766088" y="1841283"/>
            <a:ext cx="1287492" cy="2034793"/>
          </a:xfrm>
          <a:prstGeom prst="rect">
            <a:avLst/>
          </a:prstGeom>
          <a:solidFill>
            <a:srgbClr val="ECE8DF"/>
          </a:solidFill>
          <a:ln/>
        </p:spPr>
      </p:sp>
      <p:sp>
        <p:nvSpPr>
          <p:cNvPr id="41" name="Shape 39"/>
          <p:cNvSpPr/>
          <p:nvPr/>
        </p:nvSpPr>
        <p:spPr>
          <a:xfrm>
            <a:off x="8766088" y="1860333"/>
            <a:ext cx="1287492" cy="0"/>
          </a:xfrm>
          <a:prstGeom prst="line">
            <a:avLst/>
          </a:prstGeom>
          <a:noFill/>
          <a:ln w="38100">
            <a:solidFill>
              <a:srgbClr val="2F5D8C"/>
            </a:solidFill>
            <a:prstDash val="solid"/>
          </a:ln>
        </p:spPr>
      </p:sp>
      <p:sp>
        <p:nvSpPr>
          <p:cNvPr id="42" name="Text 40"/>
          <p:cNvSpPr/>
          <p:nvPr/>
        </p:nvSpPr>
        <p:spPr>
          <a:xfrm>
            <a:off x="8867659" y="2005837"/>
            <a:ext cx="1135151"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2F5D8C"/>
                </a:solidFill>
                <a:latin typeface="Times New Roman" pitchFamily="34" charset="0"/>
                <a:ea typeface="Times New Roman" pitchFamily="34" charset="-122"/>
                <a:cs typeface="Times New Roman" pitchFamily="34" charset="-120"/>
              </a:rPr>
              <a:t>S6</a:t>
            </a:r>
            <a:endParaRPr lang="en-US" sz="1800" dirty="0"/>
          </a:p>
        </p:txBody>
      </p:sp>
      <p:sp>
        <p:nvSpPr>
          <p:cNvPr id="43" name="Text 41"/>
          <p:cNvSpPr/>
          <p:nvPr/>
        </p:nvSpPr>
        <p:spPr>
          <a:xfrm>
            <a:off x="8867659" y="2376624"/>
            <a:ext cx="1135151"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Times New Roman" pitchFamily="34" charset="0"/>
                <a:ea typeface="Times New Roman" pitchFamily="34" charset="-122"/>
                <a:cs typeface="Times New Roman" pitchFamily="34" charset="-120"/>
              </a:rPr>
              <a:t>17/06–30/06</a:t>
            </a:r>
            <a:endParaRPr lang="en-US" sz="1300" dirty="0"/>
          </a:p>
        </p:txBody>
      </p:sp>
      <p:sp>
        <p:nvSpPr>
          <p:cNvPr id="44" name="Text 42"/>
          <p:cNvSpPr/>
          <p:nvPr/>
        </p:nvSpPr>
        <p:spPr>
          <a:xfrm>
            <a:off x="8867659" y="2658480"/>
            <a:ext cx="1135151" cy="45446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263"/>
                </a:solidFill>
                <a:latin typeface="Times New Roman" pitchFamily="34" charset="0"/>
                <a:ea typeface="Times New Roman" pitchFamily="34" charset="-122"/>
                <a:cs typeface="Times New Roman" pitchFamily="34" charset="-120"/>
              </a:rPr>
              <a:t>UAT, đào tạo, diễn tập</a:t>
            </a:r>
            <a:endParaRPr lang="en-US" sz="1300" dirty="0"/>
          </a:p>
        </p:txBody>
      </p:sp>
      <p:sp>
        <p:nvSpPr>
          <p:cNvPr id="45" name="Text 43"/>
          <p:cNvSpPr/>
          <p:nvPr/>
        </p:nvSpPr>
        <p:spPr>
          <a:xfrm>
            <a:off x="8867659" y="3138326"/>
            <a:ext cx="1135151" cy="223544"/>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1B2433"/>
                </a:solidFill>
                <a:latin typeface="Times New Roman" pitchFamily="34" charset="0"/>
                <a:ea typeface="Times New Roman" pitchFamily="34" charset="-122"/>
                <a:cs typeface="Times New Roman" pitchFamily="34" charset="-120"/>
              </a:rPr>
              <a:t>Go/no-go 30/06</a:t>
            </a:r>
            <a:endParaRPr lang="en-US" sz="1200" dirty="0"/>
          </a:p>
        </p:txBody>
      </p:sp>
      <p:sp>
        <p:nvSpPr>
          <p:cNvPr id="46" name="Shape 44"/>
          <p:cNvSpPr/>
          <p:nvPr/>
        </p:nvSpPr>
        <p:spPr>
          <a:xfrm>
            <a:off x="10091651" y="1841283"/>
            <a:ext cx="1287492" cy="2034793"/>
          </a:xfrm>
          <a:prstGeom prst="rect">
            <a:avLst/>
          </a:prstGeom>
          <a:solidFill>
            <a:srgbClr val="F3E3DC"/>
          </a:solidFill>
          <a:ln/>
        </p:spPr>
      </p:sp>
      <p:sp>
        <p:nvSpPr>
          <p:cNvPr id="47" name="Shape 45"/>
          <p:cNvSpPr/>
          <p:nvPr/>
        </p:nvSpPr>
        <p:spPr>
          <a:xfrm>
            <a:off x="10091651" y="1860333"/>
            <a:ext cx="1287492" cy="0"/>
          </a:xfrm>
          <a:prstGeom prst="line">
            <a:avLst/>
          </a:prstGeom>
          <a:noFill/>
          <a:ln w="38100">
            <a:solidFill>
              <a:srgbClr val="B5482F"/>
            </a:solidFill>
            <a:prstDash val="solid"/>
          </a:ln>
        </p:spPr>
      </p:sp>
      <p:sp>
        <p:nvSpPr>
          <p:cNvPr id="48" name="Text 46"/>
          <p:cNvSpPr/>
          <p:nvPr/>
        </p:nvSpPr>
        <p:spPr>
          <a:xfrm>
            <a:off x="10193221" y="2005837"/>
            <a:ext cx="1135151"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B5482F"/>
                </a:solidFill>
                <a:latin typeface="Times New Roman" pitchFamily="34" charset="0"/>
                <a:ea typeface="Times New Roman" pitchFamily="34" charset="-122"/>
                <a:cs typeface="Times New Roman" pitchFamily="34" charset="-120"/>
              </a:rPr>
              <a:t>Go-live</a:t>
            </a:r>
            <a:endParaRPr lang="en-US" sz="1800" dirty="0"/>
          </a:p>
        </p:txBody>
      </p:sp>
      <p:sp>
        <p:nvSpPr>
          <p:cNvPr id="49" name="Text 47"/>
          <p:cNvSpPr/>
          <p:nvPr/>
        </p:nvSpPr>
        <p:spPr>
          <a:xfrm>
            <a:off x="10193221" y="2376624"/>
            <a:ext cx="1135151"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Times New Roman" pitchFamily="34" charset="0"/>
                <a:ea typeface="Times New Roman" pitchFamily="34" charset="-122"/>
                <a:cs typeface="Times New Roman" pitchFamily="34" charset="-120"/>
              </a:rPr>
              <a:t>01/07</a:t>
            </a:r>
            <a:endParaRPr lang="en-US" sz="1300" dirty="0"/>
          </a:p>
        </p:txBody>
      </p:sp>
      <p:sp>
        <p:nvSpPr>
          <p:cNvPr id="50" name="Text 48"/>
          <p:cNvSpPr/>
          <p:nvPr/>
        </p:nvSpPr>
        <p:spPr>
          <a:xfrm>
            <a:off x="10193221" y="2658480"/>
            <a:ext cx="1135151" cy="454466"/>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4A5263"/>
                </a:solidFill>
                <a:latin typeface="Times New Roman" pitchFamily="34" charset="0"/>
                <a:ea typeface="Times New Roman" pitchFamily="34" charset="-122"/>
                <a:cs typeface="Times New Roman" pitchFamily="34" charset="-120"/>
              </a:rPr>
              <a:t>Chuyển đổi, nghiệm thu</a:t>
            </a:r>
            <a:endParaRPr lang="en-US" sz="1300" dirty="0"/>
          </a:p>
        </p:txBody>
      </p:sp>
      <p:sp>
        <p:nvSpPr>
          <p:cNvPr id="51" name="Text 49"/>
          <p:cNvSpPr/>
          <p:nvPr/>
        </p:nvSpPr>
        <p:spPr>
          <a:xfrm>
            <a:off x="10193221" y="3138326"/>
            <a:ext cx="1135151" cy="421687"/>
          </a:xfrm>
          <a:prstGeom prst="rect">
            <a:avLst/>
          </a:prstGeom>
          <a:noFill/>
          <a:ln/>
        </p:spPr>
        <p:txBody>
          <a:bodyPr wrap="square" lIns="0" tIns="0" rIns="0" bIns="0" rtlCol="0" anchor="t">
            <a:normAutofit/>
          </a:bodyPr>
          <a:lstStyle/>
          <a:p>
            <a:pPr marL="0" indent="0" algn="l">
              <a:lnSpc>
                <a:spcPts val="1560"/>
              </a:lnSpc>
              <a:buNone/>
            </a:pPr>
            <a:r>
              <a:rPr lang="en-US" sz="1200" i="1" dirty="0">
                <a:solidFill>
                  <a:srgbClr val="1B2433"/>
                </a:solidFill>
                <a:latin typeface="Times New Roman" pitchFamily="34" charset="0"/>
                <a:ea typeface="Times New Roman" pitchFamily="34" charset="-122"/>
                <a:cs typeface="Times New Roman" pitchFamily="34" charset="-120"/>
              </a:rPr>
              <a:t>Bắt đầu bảo hành</a:t>
            </a:r>
            <a:endParaRPr lang="en-US" sz="1200" dirty="0"/>
          </a:p>
        </p:txBody>
      </p:sp>
      <p:sp>
        <p:nvSpPr>
          <p:cNvPr id="52" name="Shape 50"/>
          <p:cNvSpPr/>
          <p:nvPr/>
        </p:nvSpPr>
        <p:spPr>
          <a:xfrm>
            <a:off x="812785" y="4129999"/>
            <a:ext cx="3420549" cy="1124994"/>
          </a:xfrm>
          <a:prstGeom prst="roundRect">
            <a:avLst>
              <a:gd name="adj" fmla="val 9031"/>
            </a:avLst>
          </a:prstGeom>
          <a:solidFill>
            <a:srgbClr val="ECE8DF"/>
          </a:solidFill>
          <a:ln/>
        </p:spPr>
      </p:sp>
      <p:sp>
        <p:nvSpPr>
          <p:cNvPr id="53" name="Text 51"/>
          <p:cNvSpPr/>
          <p:nvPr/>
        </p:nvSpPr>
        <p:spPr>
          <a:xfrm>
            <a:off x="990571" y="4307787"/>
            <a:ext cx="3156927"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33"/>
                </a:solidFill>
                <a:latin typeface="Times New Roman" pitchFamily="34" charset="0"/>
                <a:ea typeface="Times New Roman" pitchFamily="34" charset="-122"/>
                <a:cs typeface="Times New Roman" pitchFamily="34" charset="-120"/>
              </a:rPr>
              <a:t>7 sprint × 2 tuần</a:t>
            </a:r>
            <a:endParaRPr lang="en-US" sz="1600" dirty="0"/>
          </a:p>
        </p:txBody>
      </p:sp>
      <p:sp>
        <p:nvSpPr>
          <p:cNvPr id="54" name="Text 52"/>
          <p:cNvSpPr/>
          <p:nvPr/>
        </p:nvSpPr>
        <p:spPr>
          <a:xfrm>
            <a:off x="990571" y="4615073"/>
            <a:ext cx="3156927"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3"/>
                </a:solidFill>
                <a:latin typeface="Times New Roman" pitchFamily="34" charset="0"/>
                <a:ea typeface="Times New Roman" pitchFamily="34" charset="-122"/>
                <a:cs typeface="Times New Roman" pitchFamily="34" charset="-120"/>
              </a:rPr>
              <a:t>98 ngày, còn 67 ngày làm việc sau khi trừ cuối tuần và ba ngày lễ.</a:t>
            </a:r>
            <a:endParaRPr lang="en-US" sz="1300" dirty="0"/>
          </a:p>
        </p:txBody>
      </p:sp>
      <p:sp>
        <p:nvSpPr>
          <p:cNvPr id="55" name="Shape 53"/>
          <p:cNvSpPr/>
          <p:nvPr/>
        </p:nvSpPr>
        <p:spPr>
          <a:xfrm>
            <a:off x="4385690" y="4129999"/>
            <a:ext cx="3420549" cy="1124994"/>
          </a:xfrm>
          <a:prstGeom prst="roundRect">
            <a:avLst>
              <a:gd name="adj" fmla="val 9031"/>
            </a:avLst>
          </a:prstGeom>
          <a:solidFill>
            <a:srgbClr val="ECE8DF"/>
          </a:solidFill>
          <a:ln/>
        </p:spPr>
      </p:sp>
      <p:sp>
        <p:nvSpPr>
          <p:cNvPr id="56" name="Text 54"/>
          <p:cNvSpPr/>
          <p:nvPr/>
        </p:nvSpPr>
        <p:spPr>
          <a:xfrm>
            <a:off x="4563475" y="4307787"/>
            <a:ext cx="3156927"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33"/>
                </a:solidFill>
                <a:latin typeface="Times New Roman" pitchFamily="34" charset="0"/>
                <a:ea typeface="Times New Roman" pitchFamily="34" charset="-122"/>
                <a:cs typeface="Times New Roman" pitchFamily="34" charset="-120"/>
              </a:rPr>
              <a:t>Demo cuối mỗi sprint</a:t>
            </a:r>
            <a:endParaRPr lang="en-US" sz="1600" dirty="0"/>
          </a:p>
        </p:txBody>
      </p:sp>
      <p:sp>
        <p:nvSpPr>
          <p:cNvPr id="57" name="Text 55"/>
          <p:cNvSpPr/>
          <p:nvPr/>
        </p:nvSpPr>
        <p:spPr>
          <a:xfrm>
            <a:off x="4563475" y="4615073"/>
            <a:ext cx="3156927"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3"/>
                </a:solidFill>
                <a:latin typeface="Times New Roman" pitchFamily="34" charset="0"/>
                <a:ea typeface="Times New Roman" pitchFamily="34" charset="-122"/>
                <a:cs typeface="Times New Roman" pitchFamily="34" charset="-120"/>
              </a:rPr>
              <a:t>ABC Wear thấy sản phẩm chạy thật bảy lần trước go-live.</a:t>
            </a:r>
            <a:endParaRPr lang="en-US" sz="1300" dirty="0"/>
          </a:p>
        </p:txBody>
      </p:sp>
      <p:sp>
        <p:nvSpPr>
          <p:cNvPr id="58" name="Shape 56"/>
          <p:cNvSpPr/>
          <p:nvPr/>
        </p:nvSpPr>
        <p:spPr>
          <a:xfrm>
            <a:off x="7958594" y="4129999"/>
            <a:ext cx="3420549" cy="1124994"/>
          </a:xfrm>
          <a:prstGeom prst="roundRect">
            <a:avLst>
              <a:gd name="adj" fmla="val 9031"/>
            </a:avLst>
          </a:prstGeom>
          <a:solidFill>
            <a:srgbClr val="ECE8DF"/>
          </a:solidFill>
          <a:ln/>
        </p:spPr>
      </p:sp>
      <p:sp>
        <p:nvSpPr>
          <p:cNvPr id="59" name="Text 57"/>
          <p:cNvSpPr/>
          <p:nvPr/>
        </p:nvSpPr>
        <p:spPr>
          <a:xfrm>
            <a:off x="8136379" y="4307787"/>
            <a:ext cx="3156927"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33"/>
                </a:solidFill>
                <a:latin typeface="Times New Roman" pitchFamily="34" charset="0"/>
                <a:ea typeface="Times New Roman" pitchFamily="34" charset="-122"/>
                <a:cs typeface="Times New Roman" pitchFamily="34" charset="-120"/>
              </a:rPr>
              <a:t>Sai khác đã ghi</a:t>
            </a:r>
            <a:endParaRPr lang="en-US" sz="1600" dirty="0"/>
          </a:p>
        </p:txBody>
      </p:sp>
      <p:sp>
        <p:nvSpPr>
          <p:cNvPr id="60" name="Text 58"/>
          <p:cNvSpPr/>
          <p:nvPr/>
        </p:nvSpPr>
        <p:spPr>
          <a:xfrm>
            <a:off x="8136379" y="4615073"/>
            <a:ext cx="3156927"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3"/>
                </a:solidFill>
                <a:latin typeface="Times New Roman" pitchFamily="34" charset="0"/>
                <a:ea typeface="Times New Roman" pitchFamily="34" charset="-122"/>
                <a:cs typeface="Times New Roman" pitchFamily="34" charset="-120"/>
              </a:rPr>
              <a:t>Đặc tả, thiết kế muộn hơn mốc HSMT 10 và 3 ngày do T0 tính sau đóng thầu.</a:t>
            </a:r>
            <a:endParaRPr lang="en-US" sz="1300" dirty="0"/>
          </a:p>
        </p:txBody>
      </p:sp>
      <p:sp>
        <p:nvSpPr>
          <p:cNvPr id="61" name="Text 59"/>
          <p:cNvSpPr/>
          <p:nvPr/>
        </p:nvSpPr>
        <p:spPr>
          <a:xfrm>
            <a:off x="812785" y="6238218"/>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Times New Roman" pitchFamily="34" charset="0"/>
                <a:ea typeface="Times New Roman" pitchFamily="34" charset="-122"/>
                <a:cs typeface="Times New Roman" pitchFamily="34" charset="-120"/>
              </a:rPr>
              <a:t>Công ty TNHH Group 6 · Đề xuất website thương mại điện tử ABC Wear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85" y="812781"/>
            <a:ext cx="10883348" cy="256469"/>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5482F"/>
                </a:solidFill>
                <a:latin typeface="Times New Roman" pitchFamily="34" charset="0"/>
                <a:ea typeface="Times New Roman" pitchFamily="34" charset="-122"/>
                <a:cs typeface="Times New Roman" pitchFamily="34" charset="-120"/>
              </a:rPr>
              <a:t>07 · TỔ CHỨC VÀ NĂNG LỰC</a:t>
            </a:r>
            <a:endParaRPr lang="en-US" sz="1300" dirty="0"/>
          </a:p>
        </p:txBody>
      </p:sp>
      <p:sp>
        <p:nvSpPr>
          <p:cNvPr id="3" name="Text 1"/>
          <p:cNvSpPr/>
          <p:nvPr/>
        </p:nvSpPr>
        <p:spPr>
          <a:xfrm>
            <a:off x="812785" y="1119994"/>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B2433"/>
                </a:solidFill>
                <a:latin typeface="Times New Roman" pitchFamily="34" charset="0"/>
                <a:ea typeface="Times New Roman" pitchFamily="34" charset="-122"/>
                <a:cs typeface="Times New Roman" pitchFamily="34" charset="-120"/>
              </a:rPr>
              <a:t>Tổ chức và năng lực</a:t>
            </a:r>
            <a:endParaRPr lang="en-US" sz="3200" dirty="0"/>
          </a:p>
        </p:txBody>
      </p:sp>
      <p:sp>
        <p:nvSpPr>
          <p:cNvPr id="4" name="Shape 2"/>
          <p:cNvSpPr/>
          <p:nvPr/>
        </p:nvSpPr>
        <p:spPr>
          <a:xfrm>
            <a:off x="812785" y="1847627"/>
            <a:ext cx="3936927" cy="0"/>
          </a:xfrm>
          <a:prstGeom prst="line">
            <a:avLst/>
          </a:prstGeom>
          <a:noFill/>
          <a:ln w="12700">
            <a:solidFill>
              <a:srgbClr val="D6D0C3"/>
            </a:solidFill>
            <a:prstDash val="solid"/>
          </a:ln>
        </p:spPr>
      </p:sp>
      <p:sp>
        <p:nvSpPr>
          <p:cNvPr id="5" name="Text 3"/>
          <p:cNvSpPr/>
          <p:nvPr/>
        </p:nvSpPr>
        <p:spPr>
          <a:xfrm>
            <a:off x="812785" y="1964972"/>
            <a:ext cx="4055035" cy="505472"/>
          </a:xfrm>
          <a:prstGeom prst="rect">
            <a:avLst/>
          </a:prstGeom>
          <a:noFill/>
          <a:ln/>
        </p:spPr>
        <p:txBody>
          <a:bodyPr wrap="square" lIns="0" tIns="0" rIns="0" bIns="0" rtlCol="0" anchor="t">
            <a:normAutofit/>
          </a:bodyPr>
          <a:lstStyle/>
          <a:p>
            <a:pPr marL="0" indent="0" algn="l">
              <a:lnSpc>
                <a:spcPts val="3780"/>
              </a:lnSpc>
              <a:buNone/>
            </a:pPr>
            <a:r>
              <a:rPr lang="en-US" sz="3600" b="1" dirty="0">
                <a:solidFill>
                  <a:srgbClr val="1B2433"/>
                </a:solidFill>
                <a:latin typeface="Times New Roman" pitchFamily="34" charset="0"/>
                <a:ea typeface="Times New Roman" pitchFamily="34" charset="-122"/>
                <a:cs typeface="Times New Roman" pitchFamily="34" charset="-120"/>
              </a:rPr>
              <a:t>429</a:t>
            </a:r>
            <a:endParaRPr lang="en-US" sz="3600" dirty="0"/>
          </a:p>
        </p:txBody>
      </p:sp>
      <p:sp>
        <p:nvSpPr>
          <p:cNvPr id="6" name="Text 4"/>
          <p:cNvSpPr/>
          <p:nvPr/>
        </p:nvSpPr>
        <p:spPr>
          <a:xfrm>
            <a:off x="812785" y="2483110"/>
            <a:ext cx="4055035" cy="248238"/>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263"/>
                </a:solidFill>
                <a:latin typeface="Times New Roman" pitchFamily="34" charset="0"/>
                <a:ea typeface="Times New Roman" pitchFamily="34" charset="-122"/>
                <a:cs typeface="Times New Roman" pitchFamily="34" charset="-120"/>
              </a:rPr>
              <a:t>ngày công, kê theo từng người trong từng sprint</a:t>
            </a:r>
            <a:endParaRPr lang="en-US" sz="1300" dirty="0"/>
          </a:p>
        </p:txBody>
      </p:sp>
      <p:sp>
        <p:nvSpPr>
          <p:cNvPr id="7" name="Shape 5"/>
          <p:cNvSpPr/>
          <p:nvPr/>
        </p:nvSpPr>
        <p:spPr>
          <a:xfrm>
            <a:off x="812785" y="2864656"/>
            <a:ext cx="3936927" cy="0"/>
          </a:xfrm>
          <a:prstGeom prst="line">
            <a:avLst/>
          </a:prstGeom>
          <a:noFill/>
          <a:ln w="12700">
            <a:solidFill>
              <a:srgbClr val="D6D0C3"/>
            </a:solidFill>
            <a:prstDash val="solid"/>
          </a:ln>
        </p:spPr>
      </p:sp>
      <p:sp>
        <p:nvSpPr>
          <p:cNvPr id="8" name="Text 6"/>
          <p:cNvSpPr/>
          <p:nvPr/>
        </p:nvSpPr>
        <p:spPr>
          <a:xfrm>
            <a:off x="812785" y="2982001"/>
            <a:ext cx="4055035" cy="505472"/>
          </a:xfrm>
          <a:prstGeom prst="rect">
            <a:avLst/>
          </a:prstGeom>
          <a:noFill/>
          <a:ln/>
        </p:spPr>
        <p:txBody>
          <a:bodyPr wrap="square" lIns="0" tIns="0" rIns="0" bIns="0" rtlCol="0" anchor="t">
            <a:normAutofit/>
          </a:bodyPr>
          <a:lstStyle/>
          <a:p>
            <a:pPr marL="0" indent="0" algn="l">
              <a:lnSpc>
                <a:spcPts val="3780"/>
              </a:lnSpc>
              <a:buNone/>
            </a:pPr>
            <a:r>
              <a:rPr lang="en-US" sz="3600" b="1" dirty="0">
                <a:solidFill>
                  <a:srgbClr val="2F5D8C"/>
                </a:solidFill>
                <a:latin typeface="Times New Roman" pitchFamily="34" charset="0"/>
                <a:ea typeface="Times New Roman" pitchFamily="34" charset="-122"/>
                <a:cs typeface="Times New Roman" pitchFamily="34" charset="-120"/>
              </a:rPr>
              <a:t>6,4</a:t>
            </a:r>
            <a:endParaRPr lang="en-US" sz="3600" dirty="0"/>
          </a:p>
        </p:txBody>
      </p:sp>
      <p:sp>
        <p:nvSpPr>
          <p:cNvPr id="9" name="Text 7"/>
          <p:cNvSpPr/>
          <p:nvPr/>
        </p:nvSpPr>
        <p:spPr>
          <a:xfrm>
            <a:off x="812785" y="3500140"/>
            <a:ext cx="4055035" cy="248238"/>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263"/>
                </a:solidFill>
                <a:latin typeface="Times New Roman" pitchFamily="34" charset="0"/>
                <a:ea typeface="Times New Roman" pitchFamily="34" charset="-122"/>
                <a:cs typeface="Times New Roman" pitchFamily="34" charset="-120"/>
              </a:rPr>
              <a:t>người toàn thời gian bình quân, trên đội 9 người</a:t>
            </a:r>
            <a:endParaRPr lang="en-US" sz="1300" dirty="0"/>
          </a:p>
        </p:txBody>
      </p:sp>
      <p:sp>
        <p:nvSpPr>
          <p:cNvPr id="10" name="Shape 8"/>
          <p:cNvSpPr/>
          <p:nvPr/>
        </p:nvSpPr>
        <p:spPr>
          <a:xfrm>
            <a:off x="812785" y="3881686"/>
            <a:ext cx="3936927" cy="0"/>
          </a:xfrm>
          <a:prstGeom prst="line">
            <a:avLst/>
          </a:prstGeom>
          <a:noFill/>
          <a:ln w="12700">
            <a:solidFill>
              <a:srgbClr val="D6D0C3"/>
            </a:solidFill>
            <a:prstDash val="solid"/>
          </a:ln>
        </p:spPr>
      </p:sp>
      <p:sp>
        <p:nvSpPr>
          <p:cNvPr id="11" name="Text 9"/>
          <p:cNvSpPr/>
          <p:nvPr/>
        </p:nvSpPr>
        <p:spPr>
          <a:xfrm>
            <a:off x="812785" y="3999030"/>
            <a:ext cx="4055035" cy="505472"/>
          </a:xfrm>
          <a:prstGeom prst="rect">
            <a:avLst/>
          </a:prstGeom>
          <a:noFill/>
          <a:ln/>
        </p:spPr>
        <p:txBody>
          <a:bodyPr wrap="square" lIns="0" tIns="0" rIns="0" bIns="0" rtlCol="0" anchor="t">
            <a:normAutofit/>
          </a:bodyPr>
          <a:lstStyle/>
          <a:p>
            <a:pPr marL="0" indent="0" algn="l">
              <a:lnSpc>
                <a:spcPts val="3780"/>
              </a:lnSpc>
              <a:buNone/>
            </a:pPr>
            <a:r>
              <a:rPr lang="en-US" sz="3600" b="1" dirty="0">
                <a:solidFill>
                  <a:srgbClr val="B5482F"/>
                </a:solidFill>
                <a:latin typeface="Times New Roman" pitchFamily="34" charset="0"/>
                <a:ea typeface="Times New Roman" pitchFamily="34" charset="-122"/>
                <a:cs typeface="Times New Roman" pitchFamily="34" charset="-120"/>
              </a:rPr>
              <a:t>≈ 174</a:t>
            </a:r>
            <a:endParaRPr lang="en-US" sz="3600" dirty="0"/>
          </a:p>
        </p:txBody>
      </p:sp>
      <p:sp>
        <p:nvSpPr>
          <p:cNvPr id="12" name="Text 10"/>
          <p:cNvSpPr/>
          <p:nvPr/>
        </p:nvSpPr>
        <p:spPr>
          <a:xfrm>
            <a:off x="812785" y="4517169"/>
            <a:ext cx="4055035" cy="248238"/>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5263"/>
                </a:solidFill>
                <a:latin typeface="Times New Roman" pitchFamily="34" charset="0"/>
                <a:ea typeface="Times New Roman" pitchFamily="34" charset="-122"/>
                <a:cs typeface="Times New Roman" pitchFamily="34" charset="-120"/>
              </a:rPr>
              <a:t>ngày công dư làm vùng đệm cho rủi ro tích hợp</a:t>
            </a:r>
            <a:endParaRPr lang="en-US" sz="1300" dirty="0"/>
          </a:p>
        </p:txBody>
      </p:sp>
      <p:sp>
        <p:nvSpPr>
          <p:cNvPr id="13" name="Shape 11"/>
          <p:cNvSpPr/>
          <p:nvPr/>
        </p:nvSpPr>
        <p:spPr>
          <a:xfrm>
            <a:off x="11375894" y="1841277"/>
            <a:ext cx="0" cy="3930239"/>
          </a:xfrm>
          <a:prstGeom prst="line">
            <a:avLst/>
          </a:prstGeom>
          <a:noFill/>
          <a:ln w="6350">
            <a:solidFill>
              <a:srgbClr val="D6D0C3"/>
            </a:solidFill>
            <a:prstDash val="solid"/>
          </a:ln>
        </p:spPr>
      </p:sp>
      <p:sp>
        <p:nvSpPr>
          <p:cNvPr id="14" name="Shape 12"/>
          <p:cNvSpPr/>
          <p:nvPr/>
        </p:nvSpPr>
        <p:spPr>
          <a:xfrm>
            <a:off x="5105283" y="5768341"/>
            <a:ext cx="6273786" cy="0"/>
          </a:xfrm>
          <a:prstGeom prst="line">
            <a:avLst/>
          </a:prstGeom>
          <a:noFill/>
          <a:ln w="6350">
            <a:solidFill>
              <a:srgbClr val="D6D0C3"/>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114690" y="1850684"/>
          <a:ext cx="6259675" cy="3916132"/>
        </p:xfrm>
        <a:graphic>
          <a:graphicData uri="http://schemas.openxmlformats.org/drawingml/2006/table">
            <a:tbl>
              <a:tblPr/>
              <a:tblGrid>
                <a:gridCol w="4694756">
                  <a:extLst>
                    <a:ext uri="{9D8B030D-6E8A-4147-A177-3AD203B41FA5}">
                      <a16:colId xmlns:a16="http://schemas.microsoft.com/office/drawing/2014/main" val="20000"/>
                    </a:ext>
                  </a:extLst>
                </a:gridCol>
                <a:gridCol w="1564919">
                  <a:extLst>
                    <a:ext uri="{9D8B030D-6E8A-4147-A177-3AD203B41FA5}">
                      <a16:colId xmlns:a16="http://schemas.microsoft.com/office/drawing/2014/main" val="20001"/>
                    </a:ext>
                  </a:extLst>
                </a:gridCol>
              </a:tblGrid>
              <a:tr h="356012">
                <a:tc>
                  <a:txBody>
                    <a:bodyPr/>
                    <a:lstStyle/>
                    <a:p>
                      <a:pPr marL="0" indent="0">
                        <a:lnSpc>
                          <a:spcPts val="1820"/>
                        </a:lnSpc>
                        <a:buNone/>
                      </a:pPr>
                      <a:r>
                        <a:rPr lang="en-US" sz="1300" b="1" dirty="0">
                          <a:solidFill>
                            <a:srgbClr val="F6F4EF"/>
                          </a:solidFill>
                          <a:latin typeface="Times New Roman" pitchFamily="34" charset="0"/>
                          <a:ea typeface="Times New Roman" pitchFamily="34" charset="-122"/>
                          <a:cs typeface="Times New Roman" pitchFamily="34" charset="-120"/>
                        </a:rPr>
                        <a:t>Vai trò</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c>
                  <a:txBody>
                    <a:bodyPr/>
                    <a:lstStyle/>
                    <a:p>
                      <a:pPr marL="0" indent="0">
                        <a:lnSpc>
                          <a:spcPts val="1820"/>
                        </a:lnSpc>
                        <a:buNone/>
                      </a:pPr>
                      <a:r>
                        <a:rPr lang="en-US" sz="1300" b="1" dirty="0">
                          <a:solidFill>
                            <a:srgbClr val="F6F4EF"/>
                          </a:solidFill>
                          <a:latin typeface="Times New Roman" pitchFamily="34" charset="0"/>
                          <a:ea typeface="Times New Roman" pitchFamily="34" charset="-122"/>
                          <a:cs typeface="Times New Roman" pitchFamily="34" charset="-120"/>
                        </a:rPr>
                        <a:t>Ngày công</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19202C"/>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extLst>
                  <a:ext uri="{0D108BD9-81ED-4DB2-BD59-A6C34878D82A}">
                    <a16:rowId xmlns:a16="http://schemas.microsoft.com/office/drawing/2014/main" val="10000"/>
                  </a:ext>
                </a:extLst>
              </a:tr>
              <a:tr h="356012">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Chỉ huy trưởng dự án</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13</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extLst>
                  <a:ext uri="{0D108BD9-81ED-4DB2-BD59-A6C34878D82A}">
                    <a16:rowId xmlns:a16="http://schemas.microsoft.com/office/drawing/2014/main" val="10001"/>
                  </a:ext>
                </a:extLst>
              </a:tr>
              <a:tr h="356012">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Quản lý dự án</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67</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2"/>
                  </a:ext>
                </a:extLst>
              </a:tr>
              <a:tr h="356012">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Technical Lead</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60</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extLst>
                  <a:ext uri="{0D108BD9-81ED-4DB2-BD59-A6C34878D82A}">
                    <a16:rowId xmlns:a16="http://schemas.microsoft.com/office/drawing/2014/main" val="10003"/>
                  </a:ext>
                </a:extLst>
              </a:tr>
              <a:tr h="356012">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Business Analyst</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54</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4"/>
                  </a:ext>
                </a:extLst>
              </a:tr>
              <a:tr h="356012">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Front-end Developer Lead</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57</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extLst>
                  <a:ext uri="{0D108BD9-81ED-4DB2-BD59-A6C34878D82A}">
                    <a16:rowId xmlns:a16="http://schemas.microsoft.com/office/drawing/2014/main" val="10005"/>
                  </a:ext>
                </a:extLst>
              </a:tr>
              <a:tr h="356012">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Back-end Developer Lead</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60</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6"/>
                  </a:ext>
                </a:extLst>
              </a:tr>
              <a:tr h="356012">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UI/UX Designer</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34</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extLst>
                  <a:ext uri="{0D108BD9-81ED-4DB2-BD59-A6C34878D82A}">
                    <a16:rowId xmlns:a16="http://schemas.microsoft.com/office/drawing/2014/main" val="10007"/>
                  </a:ext>
                </a:extLst>
              </a:tr>
              <a:tr h="356012">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Software Tester Lead</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50</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8"/>
                  </a:ext>
                </a:extLst>
              </a:tr>
              <a:tr h="356012">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Chuyên viên triển khai</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34</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extLst>
                  <a:ext uri="{0D108BD9-81ED-4DB2-BD59-A6C34878D82A}">
                    <a16:rowId xmlns:a16="http://schemas.microsoft.com/office/drawing/2014/main" val="10009"/>
                  </a:ext>
                </a:extLst>
              </a:tr>
              <a:tr h="356012">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Tổng cộng</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5B0A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0A3"/>
                      </a:solidFill>
                      <a:prstDash val="solid"/>
                      <a:round/>
                      <a:headEnd type="none" w="med" len="med"/>
                      <a:tailEnd type="none" w="med" len="med"/>
                    </a:lnB>
                    <a:solidFill>
                      <a:srgbClr val="E3DCCB"/>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429</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B5B0A3"/>
                      </a:solidFill>
                      <a:prstDash val="solid"/>
                      <a:round/>
                      <a:headEnd type="none" w="med" len="med"/>
                      <a:tailEnd type="none" w="med" len="med"/>
                    </a:lnL>
                    <a:lnR w="12700" cap="flat" cmpd="sng" algn="ctr">
                      <a:solidFill>
                        <a:srgbClr val="B5B0A3"/>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5B0A3"/>
                      </a:solidFill>
                      <a:prstDash val="solid"/>
                      <a:round/>
                      <a:headEnd type="none" w="med" len="med"/>
                      <a:tailEnd type="none" w="med" len="med"/>
                    </a:lnB>
                    <a:solidFill>
                      <a:srgbClr val="E3DCCB"/>
                    </a:solidFill>
                  </a:tcPr>
                </a:tc>
                <a:extLst>
                  <a:ext uri="{0D108BD9-81ED-4DB2-BD59-A6C34878D82A}">
                    <a16:rowId xmlns:a16="http://schemas.microsoft.com/office/drawing/2014/main" val="10010"/>
                  </a:ext>
                </a:extLst>
              </a:tr>
            </a:tbl>
          </a:graphicData>
        </a:graphic>
      </p:graphicFrame>
      <p:sp>
        <p:nvSpPr>
          <p:cNvPr id="16" name="Text 13"/>
          <p:cNvSpPr/>
          <p:nvPr/>
        </p:nvSpPr>
        <p:spPr>
          <a:xfrm>
            <a:off x="812785" y="6238211"/>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Times New Roman" pitchFamily="34" charset="0"/>
                <a:ea typeface="Times New Roman" pitchFamily="34" charset="-122"/>
                <a:cs typeface="Times New Roman" pitchFamily="34" charset="-120"/>
              </a:rPr>
              <a:t>Công ty TNHH Group 6 · Đề xuất website thương mại điện tử ABC Wear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85" y="812788"/>
            <a:ext cx="10883348" cy="256469"/>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5482F"/>
                </a:solidFill>
                <a:latin typeface="Times New Roman" pitchFamily="34" charset="0"/>
                <a:ea typeface="Times New Roman" pitchFamily="34" charset="-122"/>
                <a:cs typeface="Times New Roman" pitchFamily="34" charset="-120"/>
              </a:rPr>
              <a:t>08 · BÀN GIAO VÀ BẢO HÀNH</a:t>
            </a:r>
            <a:endParaRPr lang="en-US" sz="1300" dirty="0"/>
          </a:p>
        </p:txBody>
      </p:sp>
      <p:sp>
        <p:nvSpPr>
          <p:cNvPr id="3" name="Text 1"/>
          <p:cNvSpPr/>
          <p:nvPr/>
        </p:nvSpPr>
        <p:spPr>
          <a:xfrm>
            <a:off x="812785" y="1119994"/>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B2433"/>
                </a:solidFill>
                <a:latin typeface="Times New Roman" pitchFamily="34" charset="0"/>
                <a:ea typeface="Times New Roman" pitchFamily="34" charset="-122"/>
                <a:cs typeface="Times New Roman" pitchFamily="34" charset="-120"/>
              </a:rPr>
              <a:t>Bàn giao và nghiệm thu</a:t>
            </a:r>
            <a:endParaRPr lang="en-US" sz="3200" dirty="0"/>
          </a:p>
        </p:txBody>
      </p:sp>
      <p:sp>
        <p:nvSpPr>
          <p:cNvPr id="4" name="Shape 2"/>
          <p:cNvSpPr/>
          <p:nvPr/>
        </p:nvSpPr>
        <p:spPr>
          <a:xfrm>
            <a:off x="812785" y="1841277"/>
            <a:ext cx="2565356" cy="520494"/>
          </a:xfrm>
          <a:prstGeom prst="roundRect">
            <a:avLst>
              <a:gd name="adj" fmla="val 14640"/>
            </a:avLst>
          </a:prstGeom>
          <a:solidFill>
            <a:srgbClr val="ECE8DF"/>
          </a:solidFill>
          <a:ln/>
        </p:spPr>
      </p:sp>
      <p:sp>
        <p:nvSpPr>
          <p:cNvPr id="5" name="Text 3"/>
          <p:cNvSpPr/>
          <p:nvPr/>
        </p:nvSpPr>
        <p:spPr>
          <a:xfrm>
            <a:off x="965141" y="1968209"/>
            <a:ext cx="378810" cy="292041"/>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5482F"/>
                </a:solidFill>
                <a:latin typeface="Times New Roman" pitchFamily="34" charset="0"/>
                <a:ea typeface="Times New Roman" pitchFamily="34" charset="-122"/>
                <a:cs typeface="Times New Roman" pitchFamily="34" charset="-120"/>
              </a:rPr>
              <a:t>D01</a:t>
            </a:r>
            <a:endParaRPr lang="en-US" sz="1500" dirty="0"/>
          </a:p>
        </p:txBody>
      </p:sp>
      <p:sp>
        <p:nvSpPr>
          <p:cNvPr id="6" name="Text 4"/>
          <p:cNvSpPr/>
          <p:nvPr/>
        </p:nvSpPr>
        <p:spPr>
          <a:xfrm>
            <a:off x="1394722" y="1991723"/>
            <a:ext cx="1347773"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Kế hoạch triển khai</a:t>
            </a:r>
            <a:endParaRPr lang="en-US" sz="1300" dirty="0"/>
          </a:p>
        </p:txBody>
      </p:sp>
      <p:sp>
        <p:nvSpPr>
          <p:cNvPr id="7" name="Shape 5"/>
          <p:cNvSpPr/>
          <p:nvPr/>
        </p:nvSpPr>
        <p:spPr>
          <a:xfrm>
            <a:off x="3479712" y="1841277"/>
            <a:ext cx="2565430" cy="520494"/>
          </a:xfrm>
          <a:prstGeom prst="roundRect">
            <a:avLst>
              <a:gd name="adj" fmla="val 14640"/>
            </a:avLst>
          </a:prstGeom>
          <a:solidFill>
            <a:srgbClr val="ECE8DF"/>
          </a:solidFill>
          <a:ln/>
        </p:spPr>
      </p:sp>
      <p:sp>
        <p:nvSpPr>
          <p:cNvPr id="8" name="Text 6"/>
          <p:cNvSpPr/>
          <p:nvPr/>
        </p:nvSpPr>
        <p:spPr>
          <a:xfrm>
            <a:off x="3632068" y="1968209"/>
            <a:ext cx="378810" cy="292041"/>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5482F"/>
                </a:solidFill>
                <a:latin typeface="Times New Roman" pitchFamily="34" charset="0"/>
                <a:ea typeface="Times New Roman" pitchFamily="34" charset="-122"/>
                <a:cs typeface="Times New Roman" pitchFamily="34" charset="-120"/>
              </a:rPr>
              <a:t>D02</a:t>
            </a:r>
            <a:endParaRPr lang="en-US" sz="1500" dirty="0"/>
          </a:p>
        </p:txBody>
      </p:sp>
      <p:sp>
        <p:nvSpPr>
          <p:cNvPr id="9" name="Text 7"/>
          <p:cNvSpPr/>
          <p:nvPr/>
        </p:nvSpPr>
        <p:spPr>
          <a:xfrm>
            <a:off x="4061649" y="1991723"/>
            <a:ext cx="1026819"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Đặc tả yêu cầu</a:t>
            </a:r>
            <a:endParaRPr lang="en-US" sz="1300" dirty="0"/>
          </a:p>
        </p:txBody>
      </p:sp>
      <p:sp>
        <p:nvSpPr>
          <p:cNvPr id="10" name="Shape 8"/>
          <p:cNvSpPr/>
          <p:nvPr/>
        </p:nvSpPr>
        <p:spPr>
          <a:xfrm>
            <a:off x="6146712" y="1841277"/>
            <a:ext cx="2565430" cy="520494"/>
          </a:xfrm>
          <a:prstGeom prst="roundRect">
            <a:avLst>
              <a:gd name="adj" fmla="val 14640"/>
            </a:avLst>
          </a:prstGeom>
          <a:solidFill>
            <a:srgbClr val="ECE8DF"/>
          </a:solidFill>
          <a:ln/>
        </p:spPr>
      </p:sp>
      <p:sp>
        <p:nvSpPr>
          <p:cNvPr id="11" name="Text 9"/>
          <p:cNvSpPr/>
          <p:nvPr/>
        </p:nvSpPr>
        <p:spPr>
          <a:xfrm>
            <a:off x="6299069" y="1968209"/>
            <a:ext cx="378810" cy="292041"/>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5482F"/>
                </a:solidFill>
                <a:latin typeface="Times New Roman" pitchFamily="34" charset="0"/>
                <a:ea typeface="Times New Roman" pitchFamily="34" charset="-122"/>
                <a:cs typeface="Times New Roman" pitchFamily="34" charset="-120"/>
              </a:rPr>
              <a:t>D03</a:t>
            </a:r>
            <a:endParaRPr lang="en-US" sz="1500" dirty="0"/>
          </a:p>
        </p:txBody>
      </p:sp>
      <p:sp>
        <p:nvSpPr>
          <p:cNvPr id="12" name="Text 10"/>
          <p:cNvSpPr/>
          <p:nvPr/>
        </p:nvSpPr>
        <p:spPr>
          <a:xfrm>
            <a:off x="6728649" y="1991723"/>
            <a:ext cx="596209"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Thiết kế</a:t>
            </a:r>
            <a:endParaRPr lang="en-US" sz="1300" dirty="0"/>
          </a:p>
        </p:txBody>
      </p:sp>
      <p:sp>
        <p:nvSpPr>
          <p:cNvPr id="13" name="Shape 11"/>
          <p:cNvSpPr/>
          <p:nvPr/>
        </p:nvSpPr>
        <p:spPr>
          <a:xfrm>
            <a:off x="8813713" y="1841277"/>
            <a:ext cx="2565430" cy="520494"/>
          </a:xfrm>
          <a:prstGeom prst="roundRect">
            <a:avLst>
              <a:gd name="adj" fmla="val 14640"/>
            </a:avLst>
          </a:prstGeom>
          <a:solidFill>
            <a:srgbClr val="ECE8DF"/>
          </a:solidFill>
          <a:ln/>
        </p:spPr>
      </p:sp>
      <p:sp>
        <p:nvSpPr>
          <p:cNvPr id="14" name="Text 12"/>
          <p:cNvSpPr/>
          <p:nvPr/>
        </p:nvSpPr>
        <p:spPr>
          <a:xfrm>
            <a:off x="8966069" y="1968209"/>
            <a:ext cx="378810" cy="292041"/>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5482F"/>
                </a:solidFill>
                <a:latin typeface="Times New Roman" pitchFamily="34" charset="0"/>
                <a:ea typeface="Times New Roman" pitchFamily="34" charset="-122"/>
                <a:cs typeface="Times New Roman" pitchFamily="34" charset="-120"/>
              </a:rPr>
              <a:t>D04</a:t>
            </a:r>
            <a:endParaRPr lang="en-US" sz="1500" dirty="0"/>
          </a:p>
        </p:txBody>
      </p:sp>
      <p:sp>
        <p:nvSpPr>
          <p:cNvPr id="15" name="Text 13"/>
          <p:cNvSpPr/>
          <p:nvPr/>
        </p:nvSpPr>
        <p:spPr>
          <a:xfrm>
            <a:off x="9395649" y="1991723"/>
            <a:ext cx="1451254"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Phần mềm và dữ liệu</a:t>
            </a:r>
            <a:endParaRPr lang="en-US" sz="1300" dirty="0"/>
          </a:p>
        </p:txBody>
      </p:sp>
      <p:sp>
        <p:nvSpPr>
          <p:cNvPr id="16" name="Shape 14"/>
          <p:cNvSpPr/>
          <p:nvPr/>
        </p:nvSpPr>
        <p:spPr>
          <a:xfrm>
            <a:off x="812785" y="2463341"/>
            <a:ext cx="2565356" cy="520494"/>
          </a:xfrm>
          <a:prstGeom prst="roundRect">
            <a:avLst>
              <a:gd name="adj" fmla="val 14640"/>
            </a:avLst>
          </a:prstGeom>
          <a:solidFill>
            <a:srgbClr val="ECE8DF"/>
          </a:solidFill>
          <a:ln/>
        </p:spPr>
      </p:sp>
      <p:sp>
        <p:nvSpPr>
          <p:cNvPr id="17" name="Text 15"/>
          <p:cNvSpPr/>
          <p:nvPr/>
        </p:nvSpPr>
        <p:spPr>
          <a:xfrm>
            <a:off x="965141" y="2590273"/>
            <a:ext cx="378810" cy="292041"/>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5482F"/>
                </a:solidFill>
                <a:latin typeface="Times New Roman" pitchFamily="34" charset="0"/>
                <a:ea typeface="Times New Roman" pitchFamily="34" charset="-122"/>
                <a:cs typeface="Times New Roman" pitchFamily="34" charset="-120"/>
              </a:rPr>
              <a:t>D05</a:t>
            </a:r>
            <a:endParaRPr lang="en-US" sz="1500" dirty="0"/>
          </a:p>
        </p:txBody>
      </p:sp>
      <p:sp>
        <p:nvSpPr>
          <p:cNvPr id="18" name="Text 16"/>
          <p:cNvSpPr/>
          <p:nvPr/>
        </p:nvSpPr>
        <p:spPr>
          <a:xfrm>
            <a:off x="1394722" y="2613788"/>
            <a:ext cx="1075693"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Hồ sơ kiểm thử</a:t>
            </a:r>
            <a:endParaRPr lang="en-US" sz="1300" dirty="0"/>
          </a:p>
        </p:txBody>
      </p:sp>
      <p:sp>
        <p:nvSpPr>
          <p:cNvPr id="19" name="Shape 17"/>
          <p:cNvSpPr/>
          <p:nvPr/>
        </p:nvSpPr>
        <p:spPr>
          <a:xfrm>
            <a:off x="3479712" y="2463341"/>
            <a:ext cx="2565430" cy="520494"/>
          </a:xfrm>
          <a:prstGeom prst="roundRect">
            <a:avLst>
              <a:gd name="adj" fmla="val 14640"/>
            </a:avLst>
          </a:prstGeom>
          <a:solidFill>
            <a:srgbClr val="ECE8DF"/>
          </a:solidFill>
          <a:ln/>
        </p:spPr>
      </p:sp>
      <p:sp>
        <p:nvSpPr>
          <p:cNvPr id="20" name="Text 18"/>
          <p:cNvSpPr/>
          <p:nvPr/>
        </p:nvSpPr>
        <p:spPr>
          <a:xfrm>
            <a:off x="3632068" y="2590273"/>
            <a:ext cx="378810" cy="292041"/>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5482F"/>
                </a:solidFill>
                <a:latin typeface="Times New Roman" pitchFamily="34" charset="0"/>
                <a:ea typeface="Times New Roman" pitchFamily="34" charset="-122"/>
                <a:cs typeface="Times New Roman" pitchFamily="34" charset="-120"/>
              </a:rPr>
              <a:t>D06</a:t>
            </a:r>
            <a:endParaRPr lang="en-US" sz="1500" dirty="0"/>
          </a:p>
        </p:txBody>
      </p:sp>
      <p:sp>
        <p:nvSpPr>
          <p:cNvPr id="21" name="Text 19"/>
          <p:cNvSpPr/>
          <p:nvPr/>
        </p:nvSpPr>
        <p:spPr>
          <a:xfrm>
            <a:off x="4061649" y="2613788"/>
            <a:ext cx="1599936"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Tài liệu và chuyển giao</a:t>
            </a:r>
            <a:endParaRPr lang="en-US" sz="1300" dirty="0"/>
          </a:p>
        </p:txBody>
      </p:sp>
      <p:sp>
        <p:nvSpPr>
          <p:cNvPr id="22" name="Shape 20"/>
          <p:cNvSpPr/>
          <p:nvPr/>
        </p:nvSpPr>
        <p:spPr>
          <a:xfrm>
            <a:off x="6146712" y="2463341"/>
            <a:ext cx="2565430" cy="520494"/>
          </a:xfrm>
          <a:prstGeom prst="roundRect">
            <a:avLst>
              <a:gd name="adj" fmla="val 14640"/>
            </a:avLst>
          </a:prstGeom>
          <a:solidFill>
            <a:srgbClr val="ECE8DF"/>
          </a:solidFill>
          <a:ln/>
        </p:spPr>
      </p:sp>
      <p:sp>
        <p:nvSpPr>
          <p:cNvPr id="23" name="Text 21"/>
          <p:cNvSpPr/>
          <p:nvPr/>
        </p:nvSpPr>
        <p:spPr>
          <a:xfrm>
            <a:off x="6299069" y="2590273"/>
            <a:ext cx="378810" cy="292041"/>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5482F"/>
                </a:solidFill>
                <a:latin typeface="Times New Roman" pitchFamily="34" charset="0"/>
                <a:ea typeface="Times New Roman" pitchFamily="34" charset="-122"/>
                <a:cs typeface="Times New Roman" pitchFamily="34" charset="-120"/>
              </a:rPr>
              <a:t>D07</a:t>
            </a:r>
            <a:endParaRPr lang="en-US" sz="1500" dirty="0"/>
          </a:p>
        </p:txBody>
      </p:sp>
      <p:sp>
        <p:nvSpPr>
          <p:cNvPr id="24" name="Text 22"/>
          <p:cNvSpPr/>
          <p:nvPr/>
        </p:nvSpPr>
        <p:spPr>
          <a:xfrm>
            <a:off x="6728649" y="2613788"/>
            <a:ext cx="1568112"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Cutover và nghiệm thu</a:t>
            </a:r>
            <a:endParaRPr lang="en-US" sz="1300" dirty="0"/>
          </a:p>
        </p:txBody>
      </p:sp>
      <p:sp>
        <p:nvSpPr>
          <p:cNvPr id="25" name="Shape 23"/>
          <p:cNvSpPr/>
          <p:nvPr/>
        </p:nvSpPr>
        <p:spPr>
          <a:xfrm>
            <a:off x="8813713" y="2463341"/>
            <a:ext cx="2565430" cy="520494"/>
          </a:xfrm>
          <a:prstGeom prst="roundRect">
            <a:avLst>
              <a:gd name="adj" fmla="val 14640"/>
            </a:avLst>
          </a:prstGeom>
          <a:solidFill>
            <a:srgbClr val="ECE8DF"/>
          </a:solidFill>
          <a:ln/>
        </p:spPr>
      </p:sp>
      <p:sp>
        <p:nvSpPr>
          <p:cNvPr id="26" name="Text 24"/>
          <p:cNvSpPr/>
          <p:nvPr/>
        </p:nvSpPr>
        <p:spPr>
          <a:xfrm>
            <a:off x="8966069" y="2590273"/>
            <a:ext cx="378810" cy="292041"/>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B5482F"/>
                </a:solidFill>
                <a:latin typeface="Times New Roman" pitchFamily="34" charset="0"/>
                <a:ea typeface="Times New Roman" pitchFamily="34" charset="-122"/>
                <a:cs typeface="Times New Roman" pitchFamily="34" charset="-120"/>
              </a:rPr>
              <a:t>D08</a:t>
            </a:r>
            <a:endParaRPr lang="en-US" sz="1500" dirty="0"/>
          </a:p>
        </p:txBody>
      </p:sp>
      <p:sp>
        <p:nvSpPr>
          <p:cNvPr id="27" name="Text 25"/>
          <p:cNvSpPr/>
          <p:nvPr/>
        </p:nvSpPr>
        <p:spPr>
          <a:xfrm>
            <a:off x="9395649" y="2613788"/>
            <a:ext cx="1135151"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Sửa lỗi 12 tháng</a:t>
            </a:r>
            <a:endParaRPr lang="en-US" sz="1300" dirty="0"/>
          </a:p>
        </p:txBody>
      </p:sp>
      <p:sp>
        <p:nvSpPr>
          <p:cNvPr id="28" name="Shape 26"/>
          <p:cNvSpPr/>
          <p:nvPr/>
        </p:nvSpPr>
        <p:spPr>
          <a:xfrm>
            <a:off x="812785" y="3353302"/>
            <a:ext cx="4826001" cy="931554"/>
          </a:xfrm>
          <a:prstGeom prst="roundRect">
            <a:avLst>
              <a:gd name="adj" fmla="val 10907"/>
            </a:avLst>
          </a:prstGeom>
          <a:solidFill>
            <a:srgbClr val="ECE8DF"/>
          </a:solidFill>
          <a:ln/>
        </p:spPr>
      </p:sp>
      <p:sp>
        <p:nvSpPr>
          <p:cNvPr id="29" name="Shape 27"/>
          <p:cNvSpPr/>
          <p:nvPr/>
        </p:nvSpPr>
        <p:spPr>
          <a:xfrm>
            <a:off x="812785" y="3353302"/>
            <a:ext cx="4826001" cy="931554"/>
          </a:xfrm>
          <a:custGeom>
            <a:avLst/>
            <a:gdLst/>
            <a:ahLst/>
            <a:cxnLst/>
            <a:rect l="l" t="t" r="r" b="b"/>
            <a:pathLst>
              <a:path w="4826001" h="931554">
                <a:moveTo>
                  <a:pt x="0" y="101600"/>
                </a:moveTo>
                <a:lnTo>
                  <a:pt x="0" y="101600"/>
                </a:lnTo>
                <a:arcTo wR="101600" hR="101600" stAng="10800000" swAng="5400000"/>
                <a:lnTo>
                  <a:pt x="4724401" y="0"/>
                </a:lnTo>
                <a:arcTo wR="101600" hR="101600" stAng="16200000" swAng="5400000"/>
                <a:lnTo>
                  <a:pt x="4826001" y="101600"/>
                </a:lnTo>
                <a:arcTo wR="101600" hR="63500" stAng="0" swAng="-5400000"/>
                <a:lnTo>
                  <a:pt x="101600" y="38100"/>
                </a:lnTo>
                <a:arcTo wR="101600" hR="63500" stAng="16200000" swAng="-5400000"/>
                <a:close/>
              </a:path>
            </a:pathLst>
          </a:custGeom>
          <a:solidFill>
            <a:srgbClr val="2F5D8C"/>
          </a:solidFill>
          <a:ln/>
        </p:spPr>
      </p:sp>
      <p:sp>
        <p:nvSpPr>
          <p:cNvPr id="30" name="Text 28"/>
          <p:cNvSpPr/>
          <p:nvPr/>
        </p:nvSpPr>
        <p:spPr>
          <a:xfrm>
            <a:off x="990571" y="3568712"/>
            <a:ext cx="4604543"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33"/>
                </a:solidFill>
                <a:latin typeface="Times New Roman" pitchFamily="34" charset="0"/>
                <a:ea typeface="Times New Roman" pitchFamily="34" charset="-122"/>
                <a:cs typeface="Times New Roman" pitchFamily="34" charset="-120"/>
              </a:rPr>
              <a:t>Biên bản go/no-go</a:t>
            </a:r>
            <a:endParaRPr lang="en-US" sz="1600" dirty="0"/>
          </a:p>
        </p:txBody>
      </p:sp>
      <p:sp>
        <p:nvSpPr>
          <p:cNvPr id="31" name="Text 29"/>
          <p:cNvSpPr/>
          <p:nvPr/>
        </p:nvSpPr>
        <p:spPr>
          <a:xfrm>
            <a:off x="990571" y="3875999"/>
            <a:ext cx="4604543"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263"/>
                </a:solidFill>
                <a:latin typeface="Times New Roman" pitchFamily="34" charset="0"/>
                <a:ea typeface="Times New Roman" pitchFamily="34" charset="-122"/>
                <a:cs typeface="Times New Roman" pitchFamily="34" charset="-120"/>
              </a:rPr>
              <a:t>Trước 01/07.</a:t>
            </a:r>
            <a:r>
              <a:rPr lang="en-US" sz="1300" dirty="0">
                <a:solidFill>
                  <a:srgbClr val="4A5263"/>
                </a:solidFill>
                <a:latin typeface="Times New Roman" pitchFamily="34" charset="0"/>
                <a:ea typeface="Times New Roman" pitchFamily="34" charset="-122"/>
                <a:cs typeface="Times New Roman" pitchFamily="34" charset="-120"/>
              </a:rPr>
              <a:t> Điều kiện để được chuyển đổi.</a:t>
            </a:r>
            <a:endParaRPr lang="en-US" sz="1300" dirty="0"/>
          </a:p>
        </p:txBody>
      </p:sp>
      <p:pic>
        <p:nvPicPr>
          <p:cNvPr id="32" name="Image 0" descr="arrow-right"/>
          <p:cNvPicPr>
            <a:picLocks noChangeAspect="1"/>
          </p:cNvPicPr>
          <p:nvPr/>
        </p:nvPicPr>
        <p:blipFill>
          <a:blip r:embed="rId3"/>
          <a:srcRect/>
          <a:stretch/>
        </p:blipFill>
        <p:spPr>
          <a:xfrm>
            <a:off x="5791142" y="3666685"/>
            <a:ext cx="609571" cy="304785"/>
          </a:xfrm>
          <a:prstGeom prst="rect">
            <a:avLst/>
          </a:prstGeom>
        </p:spPr>
      </p:pic>
      <p:sp>
        <p:nvSpPr>
          <p:cNvPr id="33" name="Shape 30"/>
          <p:cNvSpPr/>
          <p:nvPr/>
        </p:nvSpPr>
        <p:spPr>
          <a:xfrm>
            <a:off x="6553068" y="3237762"/>
            <a:ext cx="4826074" cy="1162623"/>
          </a:xfrm>
          <a:prstGeom prst="roundRect">
            <a:avLst>
              <a:gd name="adj" fmla="val 8739"/>
            </a:avLst>
          </a:prstGeom>
          <a:solidFill>
            <a:srgbClr val="ECE8DF"/>
          </a:solidFill>
          <a:ln/>
        </p:spPr>
      </p:sp>
      <p:sp>
        <p:nvSpPr>
          <p:cNvPr id="34" name="Shape 31"/>
          <p:cNvSpPr/>
          <p:nvPr/>
        </p:nvSpPr>
        <p:spPr>
          <a:xfrm>
            <a:off x="6553068" y="3237762"/>
            <a:ext cx="4826074" cy="1162623"/>
          </a:xfrm>
          <a:custGeom>
            <a:avLst/>
            <a:gdLst/>
            <a:ahLst/>
            <a:cxnLst/>
            <a:rect l="l" t="t" r="r" b="b"/>
            <a:pathLst>
              <a:path w="4826074" h="1162623">
                <a:moveTo>
                  <a:pt x="0" y="101600"/>
                </a:moveTo>
                <a:lnTo>
                  <a:pt x="0" y="101600"/>
                </a:lnTo>
                <a:arcTo wR="101600" hR="101600" stAng="10800000" swAng="5400000"/>
                <a:lnTo>
                  <a:pt x="4724474" y="0"/>
                </a:lnTo>
                <a:arcTo wR="101600" hR="101600" stAng="16200000" swAng="5400000"/>
                <a:lnTo>
                  <a:pt x="4826074" y="101600"/>
                </a:lnTo>
                <a:arcTo wR="101600" hR="63500" stAng="0" swAng="-5400000"/>
                <a:lnTo>
                  <a:pt x="101600" y="38100"/>
                </a:lnTo>
                <a:arcTo wR="101600" hR="63500" stAng="16200000" swAng="-5400000"/>
                <a:close/>
              </a:path>
            </a:pathLst>
          </a:custGeom>
          <a:solidFill>
            <a:srgbClr val="B5482F"/>
          </a:solidFill>
          <a:ln/>
        </p:spPr>
      </p:sp>
      <p:sp>
        <p:nvSpPr>
          <p:cNvPr id="35" name="Text 32"/>
          <p:cNvSpPr/>
          <p:nvPr/>
        </p:nvSpPr>
        <p:spPr>
          <a:xfrm>
            <a:off x="6730853" y="3453178"/>
            <a:ext cx="4604619"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33"/>
                </a:solidFill>
                <a:latin typeface="Times New Roman" pitchFamily="34" charset="0"/>
                <a:ea typeface="Times New Roman" pitchFamily="34" charset="-122"/>
                <a:cs typeface="Times New Roman" pitchFamily="34" charset="-120"/>
              </a:rPr>
              <a:t>Biên bản nghiệm thu triển khai</a:t>
            </a:r>
            <a:endParaRPr lang="en-US" sz="1600" dirty="0"/>
          </a:p>
        </p:txBody>
      </p:sp>
      <p:sp>
        <p:nvSpPr>
          <p:cNvPr id="36" name="Text 33"/>
          <p:cNvSpPr/>
          <p:nvPr/>
        </p:nvSpPr>
        <p:spPr>
          <a:xfrm>
            <a:off x="6730853" y="3760465"/>
            <a:ext cx="4604619" cy="48753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A5263"/>
                </a:solidFill>
                <a:latin typeface="Times New Roman" pitchFamily="34" charset="0"/>
                <a:ea typeface="Times New Roman" pitchFamily="34" charset="-122"/>
                <a:cs typeface="Times New Roman" pitchFamily="34" charset="-120"/>
              </a:rPr>
              <a:t>Tại hoặc sau cutover</a:t>
            </a:r>
            <a:r>
              <a:rPr lang="en-US" sz="1300" dirty="0">
                <a:solidFill>
                  <a:srgbClr val="4A5263"/>
                </a:solidFill>
                <a:latin typeface="Times New Roman" pitchFamily="34" charset="0"/>
                <a:ea typeface="Times New Roman" pitchFamily="34" charset="-122"/>
                <a:cs typeface="Times New Roman" pitchFamily="34" charset="-120"/>
              </a:rPr>
              <a:t>, sau smoke test. Bắt đầu 12 tháng bảo hành và đợt thanh toán 10% cuối.</a:t>
            </a:r>
            <a:endParaRPr lang="en-US" sz="1300" dirty="0"/>
          </a:p>
        </p:txBody>
      </p:sp>
      <p:sp>
        <p:nvSpPr>
          <p:cNvPr id="37" name="Text 34"/>
          <p:cNvSpPr/>
          <p:nvPr/>
        </p:nvSpPr>
        <p:spPr>
          <a:xfrm>
            <a:off x="812785" y="6238211"/>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Times New Roman" pitchFamily="34" charset="0"/>
                <a:ea typeface="Times New Roman" pitchFamily="34" charset="-122"/>
                <a:cs typeface="Times New Roman" pitchFamily="34" charset="-120"/>
              </a:rPr>
              <a:t>Công ty TNHH Group 6 · Đề xuất website thương mại điện tử ABC Wear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85" y="812788"/>
            <a:ext cx="10883348" cy="256469"/>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5482F"/>
                </a:solidFill>
                <a:latin typeface="Times New Roman" pitchFamily="34" charset="0"/>
                <a:ea typeface="Times New Roman" pitchFamily="34" charset="-122"/>
                <a:cs typeface="Times New Roman" pitchFamily="34" charset="-120"/>
              </a:rPr>
              <a:t>08 · BÀN GIAO VÀ BẢO HÀNH</a:t>
            </a:r>
            <a:endParaRPr lang="en-US" sz="1300" dirty="0"/>
          </a:p>
        </p:txBody>
      </p:sp>
      <p:sp>
        <p:nvSpPr>
          <p:cNvPr id="3" name="Text 1"/>
          <p:cNvSpPr/>
          <p:nvPr/>
        </p:nvSpPr>
        <p:spPr>
          <a:xfrm>
            <a:off x="812785" y="1120000"/>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B2433"/>
                </a:solidFill>
                <a:latin typeface="Times New Roman" pitchFamily="34" charset="0"/>
                <a:ea typeface="Times New Roman" pitchFamily="34" charset="-122"/>
                <a:cs typeface="Times New Roman" pitchFamily="34" charset="-120"/>
              </a:rPr>
              <a:t>Bảo hành 12 tháng</a:t>
            </a:r>
            <a:endParaRPr lang="en-US" sz="3200" dirty="0"/>
          </a:p>
        </p:txBody>
      </p:sp>
      <p:sp>
        <p:nvSpPr>
          <p:cNvPr id="4" name="Shape 2"/>
          <p:cNvSpPr/>
          <p:nvPr/>
        </p:nvSpPr>
        <p:spPr>
          <a:xfrm>
            <a:off x="11375968" y="1841283"/>
            <a:ext cx="0" cy="2176051"/>
          </a:xfrm>
          <a:prstGeom prst="line">
            <a:avLst/>
          </a:prstGeom>
          <a:noFill/>
          <a:ln w="6350">
            <a:solidFill>
              <a:srgbClr val="D6D0C3"/>
            </a:solidFill>
            <a:prstDash val="solid"/>
          </a:ln>
        </p:spPr>
      </p:sp>
      <p:sp>
        <p:nvSpPr>
          <p:cNvPr id="5" name="Shape 3"/>
          <p:cNvSpPr/>
          <p:nvPr/>
        </p:nvSpPr>
        <p:spPr>
          <a:xfrm>
            <a:off x="812785" y="4014159"/>
            <a:ext cx="10566357" cy="0"/>
          </a:xfrm>
          <a:prstGeom prst="line">
            <a:avLst/>
          </a:prstGeom>
          <a:noFill/>
          <a:ln w="6350">
            <a:solidFill>
              <a:srgbClr val="D6D0C3"/>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193" y="1850690"/>
          <a:ext cx="10552247" cy="2162928"/>
        </p:xfrm>
        <a:graphic>
          <a:graphicData uri="http://schemas.openxmlformats.org/drawingml/2006/table">
            <a:tbl>
              <a:tblPr/>
              <a:tblGrid>
                <a:gridCol w="2110449">
                  <a:extLst>
                    <a:ext uri="{9D8B030D-6E8A-4147-A177-3AD203B41FA5}">
                      <a16:colId xmlns:a16="http://schemas.microsoft.com/office/drawing/2014/main" val="20000"/>
                    </a:ext>
                  </a:extLst>
                </a:gridCol>
                <a:gridCol w="4220899">
                  <a:extLst>
                    <a:ext uri="{9D8B030D-6E8A-4147-A177-3AD203B41FA5}">
                      <a16:colId xmlns:a16="http://schemas.microsoft.com/office/drawing/2014/main" val="20001"/>
                    </a:ext>
                  </a:extLst>
                </a:gridCol>
                <a:gridCol w="1266270">
                  <a:extLst>
                    <a:ext uri="{9D8B030D-6E8A-4147-A177-3AD203B41FA5}">
                      <a16:colId xmlns:a16="http://schemas.microsoft.com/office/drawing/2014/main" val="20002"/>
                    </a:ext>
                  </a:extLst>
                </a:gridCol>
                <a:gridCol w="2954629">
                  <a:extLst>
                    <a:ext uri="{9D8B030D-6E8A-4147-A177-3AD203B41FA5}">
                      <a16:colId xmlns:a16="http://schemas.microsoft.com/office/drawing/2014/main" val="20003"/>
                    </a:ext>
                  </a:extLst>
                </a:gridCol>
              </a:tblGrid>
              <a:tr h="382617">
                <a:tc>
                  <a:txBody>
                    <a:bodyPr/>
                    <a:lstStyle/>
                    <a:p>
                      <a:pPr marL="0" indent="0">
                        <a:lnSpc>
                          <a:spcPts val="1960"/>
                        </a:lnSpc>
                        <a:buNone/>
                      </a:pPr>
                      <a:r>
                        <a:rPr lang="en-US" sz="1400" b="1" dirty="0">
                          <a:solidFill>
                            <a:srgbClr val="F6F4EF"/>
                          </a:solidFill>
                          <a:latin typeface="Times New Roman" pitchFamily="34" charset="0"/>
                          <a:ea typeface="Times New Roman" pitchFamily="34" charset="-122"/>
                          <a:cs typeface="Times New Roman" pitchFamily="34" charset="-120"/>
                        </a:rPr>
                        <a:t>Mức</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c>
                  <a:txBody>
                    <a:bodyPr/>
                    <a:lstStyle/>
                    <a:p>
                      <a:pPr marL="0" indent="0">
                        <a:lnSpc>
                          <a:spcPts val="1960"/>
                        </a:lnSpc>
                        <a:buNone/>
                      </a:pPr>
                      <a:r>
                        <a:rPr lang="en-US" sz="1400" b="1" dirty="0">
                          <a:solidFill>
                            <a:srgbClr val="F6F4EF"/>
                          </a:solidFill>
                          <a:latin typeface="Times New Roman" pitchFamily="34" charset="0"/>
                          <a:ea typeface="Times New Roman" pitchFamily="34" charset="-122"/>
                          <a:cs typeface="Times New Roman" pitchFamily="34" charset="-120"/>
                        </a:rPr>
                        <a:t>Định nghĩa</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19202C"/>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c>
                  <a:txBody>
                    <a:bodyPr/>
                    <a:lstStyle/>
                    <a:p>
                      <a:pPr marL="0" indent="0">
                        <a:lnSpc>
                          <a:spcPts val="1960"/>
                        </a:lnSpc>
                        <a:buNone/>
                      </a:pPr>
                      <a:r>
                        <a:rPr lang="en-US" sz="1400" b="1" dirty="0">
                          <a:solidFill>
                            <a:srgbClr val="F6F4EF"/>
                          </a:solidFill>
                          <a:latin typeface="Times New Roman" pitchFamily="34" charset="0"/>
                          <a:ea typeface="Times New Roman" pitchFamily="34" charset="-122"/>
                          <a:cs typeface="Times New Roman" pitchFamily="34" charset="-120"/>
                        </a:rPr>
                        <a:t>Phản hồi</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19202C"/>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c>
                  <a:txBody>
                    <a:bodyPr/>
                    <a:lstStyle/>
                    <a:p>
                      <a:pPr marL="0" indent="0">
                        <a:lnSpc>
                          <a:spcPts val="1960"/>
                        </a:lnSpc>
                        <a:buNone/>
                      </a:pPr>
                      <a:r>
                        <a:rPr lang="en-US" sz="1400" b="1" dirty="0">
                          <a:solidFill>
                            <a:srgbClr val="F6F4EF"/>
                          </a:solidFill>
                          <a:latin typeface="Times New Roman" pitchFamily="34" charset="0"/>
                          <a:ea typeface="Times New Roman" pitchFamily="34" charset="-122"/>
                          <a:cs typeface="Times New Roman" pitchFamily="34" charset="-120"/>
                        </a:rPr>
                        <a:t>Khắc phục</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19202C"/>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extLst>
                  <a:ext uri="{0D108BD9-81ED-4DB2-BD59-A6C34878D82A}">
                    <a16:rowId xmlns:a16="http://schemas.microsoft.com/office/drawing/2014/main" val="10000"/>
                  </a:ext>
                </a:extLst>
              </a:tr>
              <a:tr h="631472">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P1 · Nghiêm trọng</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Dừng hệ thống, không đặt được hàng, mất hoặc rò rỉ dữ liệu</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1 giờ</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Khôi phục 4 giờ · sửa dứt điểm 16 giờ</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extLst>
                  <a:ext uri="{0D108BD9-81ED-4DB2-BD59-A6C34878D82A}">
                    <a16:rowId xmlns:a16="http://schemas.microsoft.com/office/drawing/2014/main" val="10001"/>
                  </a:ext>
                </a:extLst>
              </a:tr>
              <a:tr h="382617">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P2 · Cao</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Một nhóm chức năng không dùng được</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4 giờ</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24 giờ</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2"/>
                  </a:ext>
                </a:extLst>
              </a:tr>
              <a:tr h="382617">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P3 · Trung bình</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Ảnh hưởng một phần, không chặn giao dịch</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8 giờ</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2 ngày làm việc</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extLst>
                  <a:ext uri="{0D108BD9-81ED-4DB2-BD59-A6C34878D82A}">
                    <a16:rowId xmlns:a16="http://schemas.microsoft.com/office/drawing/2014/main" val="10003"/>
                  </a:ext>
                </a:extLst>
              </a:tr>
              <a:tr h="382617">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P4 · Thấp</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Lỗi hiển thị, hỗ trợ thông thường</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24 giờ</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3 ngày làm việc</a:t>
                      </a:r>
                      <a:endParaRPr lang="en-US" sz="1400" dirty="0">
                        <a:latin typeface="Times New Roman" charset="0"/>
                        <a:ea typeface="Times New Roman" charset="0"/>
                        <a:cs typeface="Times New Roman" charset="0"/>
                      </a:endParaRPr>
                    </a:p>
                  </a:txBody>
                  <a:tcPr marL="62230" marR="62230" marT="62230" marB="62230">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4"/>
                  </a:ext>
                </a:extLst>
              </a:tr>
            </a:tbl>
          </a:graphicData>
        </a:graphic>
      </p:graphicFrame>
      <p:sp>
        <p:nvSpPr>
          <p:cNvPr id="7" name="Text 4"/>
          <p:cNvSpPr/>
          <p:nvPr/>
        </p:nvSpPr>
        <p:spPr>
          <a:xfrm>
            <a:off x="812785" y="4271256"/>
            <a:ext cx="10883348"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Đồng hồ tính từ lúc yêu cầu được ghi nhận trên kênh tiếp nhận, không từ lúc nhà thầu xác nhận. Trực 3 ca luân phiên; chi phí đã nằm trong giá.</a:t>
            </a:r>
            <a:endParaRPr lang="en-US" sz="1400" dirty="0"/>
          </a:p>
        </p:txBody>
      </p:sp>
      <p:sp>
        <p:nvSpPr>
          <p:cNvPr id="8" name="Text 5"/>
          <p:cNvSpPr/>
          <p:nvPr/>
        </p:nvSpPr>
        <p:spPr>
          <a:xfrm>
            <a:off x="812785" y="6238218"/>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Times New Roman" pitchFamily="34" charset="0"/>
                <a:ea typeface="Times New Roman" pitchFamily="34" charset="-122"/>
                <a:cs typeface="Times New Roman" pitchFamily="34" charset="-120"/>
              </a:rPr>
              <a:t>Công ty TNHH Group 6 · Đề xuất website thương mại điện tử ABC Wear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85" y="812788"/>
            <a:ext cx="10883348" cy="256469"/>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5482F"/>
                </a:solidFill>
                <a:latin typeface="Times New Roman" pitchFamily="34" charset="0"/>
                <a:ea typeface="Times New Roman" pitchFamily="34" charset="-122"/>
                <a:cs typeface="Times New Roman" pitchFamily="34" charset="-120"/>
              </a:rPr>
              <a:t>09 · GIÁ VÀ CHI PHÍ</a:t>
            </a:r>
            <a:endParaRPr lang="en-US" sz="1300" dirty="0"/>
          </a:p>
        </p:txBody>
      </p:sp>
      <p:sp>
        <p:nvSpPr>
          <p:cNvPr id="3" name="Text 1"/>
          <p:cNvSpPr/>
          <p:nvPr/>
        </p:nvSpPr>
        <p:spPr>
          <a:xfrm>
            <a:off x="812785" y="1120000"/>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B2433"/>
                </a:solidFill>
                <a:latin typeface="Times New Roman" pitchFamily="34" charset="0"/>
                <a:ea typeface="Times New Roman" pitchFamily="34" charset="-122"/>
                <a:cs typeface="Times New Roman" pitchFamily="34" charset="-120"/>
              </a:rPr>
              <a:t>Giá và cơ sở tính giá</a:t>
            </a:r>
            <a:endParaRPr lang="en-US" sz="3200" dirty="0"/>
          </a:p>
        </p:txBody>
      </p:sp>
      <p:sp>
        <p:nvSpPr>
          <p:cNvPr id="4" name="Shape 2"/>
          <p:cNvSpPr/>
          <p:nvPr/>
        </p:nvSpPr>
        <p:spPr>
          <a:xfrm>
            <a:off x="7159538" y="1841283"/>
            <a:ext cx="0" cy="2862204"/>
          </a:xfrm>
          <a:prstGeom prst="line">
            <a:avLst/>
          </a:prstGeom>
          <a:noFill/>
          <a:ln w="6350">
            <a:solidFill>
              <a:srgbClr val="D6D0C3"/>
            </a:solidFill>
            <a:prstDash val="solid"/>
          </a:ln>
        </p:spPr>
      </p:sp>
      <p:sp>
        <p:nvSpPr>
          <p:cNvPr id="5" name="Shape 3"/>
          <p:cNvSpPr/>
          <p:nvPr/>
        </p:nvSpPr>
        <p:spPr>
          <a:xfrm>
            <a:off x="812785" y="4700312"/>
            <a:ext cx="6349927" cy="0"/>
          </a:xfrm>
          <a:prstGeom prst="line">
            <a:avLst/>
          </a:prstGeom>
          <a:noFill/>
          <a:ln w="6350">
            <a:solidFill>
              <a:srgbClr val="D6D0C3"/>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193" y="1850690"/>
          <a:ext cx="6335816" cy="2848096"/>
        </p:xfrm>
        <a:graphic>
          <a:graphicData uri="http://schemas.openxmlformats.org/drawingml/2006/table">
            <a:tbl>
              <a:tblPr/>
              <a:tblGrid>
                <a:gridCol w="3928206">
                  <a:extLst>
                    <a:ext uri="{9D8B030D-6E8A-4147-A177-3AD203B41FA5}">
                      <a16:colId xmlns:a16="http://schemas.microsoft.com/office/drawing/2014/main" val="20000"/>
                    </a:ext>
                  </a:extLst>
                </a:gridCol>
                <a:gridCol w="1140447">
                  <a:extLst>
                    <a:ext uri="{9D8B030D-6E8A-4147-A177-3AD203B41FA5}">
                      <a16:colId xmlns:a16="http://schemas.microsoft.com/office/drawing/2014/main" val="20001"/>
                    </a:ext>
                  </a:extLst>
                </a:gridCol>
                <a:gridCol w="1267163">
                  <a:extLst>
                    <a:ext uri="{9D8B030D-6E8A-4147-A177-3AD203B41FA5}">
                      <a16:colId xmlns:a16="http://schemas.microsoft.com/office/drawing/2014/main" val="20002"/>
                    </a:ext>
                  </a:extLst>
                </a:gridCol>
              </a:tblGrid>
              <a:tr h="356012">
                <a:tc>
                  <a:txBody>
                    <a:bodyPr/>
                    <a:lstStyle/>
                    <a:p>
                      <a:pPr marL="0" indent="0">
                        <a:lnSpc>
                          <a:spcPts val="1820"/>
                        </a:lnSpc>
                        <a:buNone/>
                      </a:pPr>
                      <a:r>
                        <a:rPr lang="en-US" sz="1300" b="1" dirty="0">
                          <a:solidFill>
                            <a:srgbClr val="F6F4EF"/>
                          </a:solidFill>
                          <a:latin typeface="Times New Roman" pitchFamily="34" charset="0"/>
                          <a:ea typeface="Times New Roman" pitchFamily="34" charset="-122"/>
                          <a:cs typeface="Times New Roman" pitchFamily="34" charset="-120"/>
                        </a:rPr>
                        <a:t>Hạng mục theo Mẫu 01A</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c>
                  <a:txBody>
                    <a:bodyPr/>
                    <a:lstStyle/>
                    <a:p>
                      <a:pPr marL="0" indent="0">
                        <a:lnSpc>
                          <a:spcPts val="1820"/>
                        </a:lnSpc>
                        <a:buNone/>
                      </a:pPr>
                      <a:r>
                        <a:rPr lang="en-US" sz="1300" b="1" dirty="0">
                          <a:solidFill>
                            <a:srgbClr val="F6F4EF"/>
                          </a:solidFill>
                          <a:latin typeface="Times New Roman" pitchFamily="34" charset="0"/>
                          <a:ea typeface="Times New Roman" pitchFamily="34" charset="-122"/>
                          <a:cs typeface="Times New Roman" pitchFamily="34" charset="-120"/>
                        </a:rPr>
                        <a:t>Đầu ra</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19202C"/>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tc>
                  <a:txBody>
                    <a:bodyPr/>
                    <a:lstStyle/>
                    <a:p>
                      <a:pPr marL="0" indent="0">
                        <a:lnSpc>
                          <a:spcPts val="1820"/>
                        </a:lnSpc>
                        <a:buNone/>
                      </a:pPr>
                      <a:r>
                        <a:rPr lang="en-US" sz="1300" b="1" dirty="0">
                          <a:solidFill>
                            <a:srgbClr val="F6F4EF"/>
                          </a:solidFill>
                          <a:latin typeface="Times New Roman" pitchFamily="34" charset="0"/>
                          <a:ea typeface="Times New Roman" pitchFamily="34" charset="-122"/>
                          <a:cs typeface="Times New Roman" pitchFamily="34" charset="-120"/>
                        </a:rPr>
                        <a:t>Triệu đồng</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19202C"/>
                      </a:solidFill>
                      <a:prstDash val="solid"/>
                      <a:round/>
                      <a:headEnd type="none" w="med" len="med"/>
                      <a:tailEnd type="none" w="med" len="med"/>
                    </a:lnL>
                    <a:lnR w="12700" cap="flat" cmpd="sng" algn="ctr">
                      <a:solidFill>
                        <a:srgbClr val="19202C"/>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19202C"/>
                      </a:solidFill>
                      <a:prstDash val="solid"/>
                      <a:round/>
                      <a:headEnd type="none" w="med" len="med"/>
                      <a:tailEnd type="none" w="med" len="med"/>
                    </a:lnB>
                    <a:solidFill>
                      <a:srgbClr val="1B2433"/>
                    </a:solidFill>
                  </a:tcPr>
                </a:tc>
                <a:extLst>
                  <a:ext uri="{0D108BD9-81ED-4DB2-BD59-A6C34878D82A}">
                    <a16:rowId xmlns:a16="http://schemas.microsoft.com/office/drawing/2014/main" val="10000"/>
                  </a:ext>
                </a:extLst>
              </a:tr>
              <a:tr h="356012">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Khảo sát, phân tích, đặc tả</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D01–D02</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197</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19202C"/>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extLst>
                  <a:ext uri="{0D108BD9-81ED-4DB2-BD59-A6C34878D82A}">
                    <a16:rowId xmlns:a16="http://schemas.microsoft.com/office/drawing/2014/main" val="10001"/>
                  </a:ext>
                </a:extLst>
              </a:tr>
              <a:tr h="356012">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Thiết kế</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D03</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103</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2"/>
                  </a:ext>
                </a:extLst>
              </a:tr>
              <a:tr h="356012">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Phát triển và tích hợp (gồm 123,1 dự phòng)</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D04</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580</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extLst>
                  <a:ext uri="{0D108BD9-81ED-4DB2-BD59-A6C34878D82A}">
                    <a16:rowId xmlns:a16="http://schemas.microsoft.com/office/drawing/2014/main" val="10003"/>
                  </a:ext>
                </a:extLst>
              </a:tr>
              <a:tr h="356012">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Kiểm thử, hiệu năng, UAT</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D05</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201</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4"/>
                  </a:ext>
                </a:extLst>
              </a:tr>
              <a:tr h="356012">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Vận hành, bàn giao, cutover</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D06–D07</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144</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C4C3BF"/>
                      </a:solidFill>
                      <a:prstDash val="solid"/>
                      <a:round/>
                      <a:headEnd type="none" w="med" len="med"/>
                      <a:tailEnd type="none" w="med" len="med"/>
                    </a:lnB>
                    <a:solidFill>
                      <a:srgbClr val="F6F4EF"/>
                    </a:solidFill>
                  </a:tcPr>
                </a:tc>
                <a:extLst>
                  <a:ext uri="{0D108BD9-81ED-4DB2-BD59-A6C34878D82A}">
                    <a16:rowId xmlns:a16="http://schemas.microsoft.com/office/drawing/2014/main" val="10005"/>
                  </a:ext>
                </a:extLst>
              </a:tr>
              <a:tr h="356012">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Sửa lỗi 12 tháng</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D08</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75</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BCB9B2"/>
                      </a:solidFill>
                      <a:prstDash val="solid"/>
                      <a:round/>
                      <a:headEnd type="none" w="med" len="med"/>
                      <a:tailEnd type="none" w="med" len="med"/>
                    </a:lnL>
                    <a:lnR w="12700" cap="flat" cmpd="sng" algn="ctr">
                      <a:solidFill>
                        <a:srgbClr val="BCB9B2"/>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CB9B2"/>
                      </a:solidFill>
                      <a:prstDash val="solid"/>
                      <a:round/>
                      <a:headEnd type="none" w="med" len="med"/>
                      <a:tailEnd type="none" w="med" len="med"/>
                    </a:lnB>
                    <a:solidFill>
                      <a:srgbClr val="ECE8DF"/>
                    </a:solidFill>
                  </a:tcPr>
                </a:tc>
                <a:extLst>
                  <a:ext uri="{0D108BD9-81ED-4DB2-BD59-A6C34878D82A}">
                    <a16:rowId xmlns:a16="http://schemas.microsoft.com/office/drawing/2014/main" val="10006"/>
                  </a:ext>
                </a:extLst>
              </a:tr>
              <a:tr h="356012">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Tổng cộng</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C4C3BF"/>
                      </a:solidFill>
                      <a:prstDash val="solid"/>
                      <a:round/>
                      <a:headEnd type="none" w="med" len="med"/>
                      <a:tailEnd type="none" w="med" len="med"/>
                    </a:lnL>
                    <a:lnR w="12700" cap="flat" cmpd="sng" algn="ctr">
                      <a:solidFill>
                        <a:srgbClr val="B5B0A3"/>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5B0A3"/>
                      </a:solidFill>
                      <a:prstDash val="solid"/>
                      <a:round/>
                      <a:headEnd type="none" w="med" len="med"/>
                      <a:tailEnd type="none" w="med" len="med"/>
                    </a:lnB>
                    <a:solidFill>
                      <a:srgbClr val="E3DCCB"/>
                    </a:solidFill>
                  </a:tcPr>
                </a:tc>
                <a:tc>
                  <a:txBody>
                    <a:bodyPr/>
                    <a:lstStyle/>
                    <a:p>
                      <a:pPr marL="0" indent="0">
                        <a:lnSpc>
                          <a:spcPts val="1820"/>
                        </a:lnSpc>
                        <a:buNone/>
                      </a:pPr>
                      <a:endParaRPr lang="en-US" sz="1300" dirty="0">
                        <a:latin typeface="Times New Roman" charset="0"/>
                        <a:ea typeface="Times New Roman" charset="0"/>
                        <a:cs typeface="Times New Roman" charset="0"/>
                      </a:endParaRPr>
                    </a:p>
                  </a:txBody>
                  <a:tcPr marL="57785" marR="57785" marT="57785" marB="57785">
                    <a:lnL w="12700" cap="flat" cmpd="sng" algn="ctr">
                      <a:solidFill>
                        <a:srgbClr val="B5B0A3"/>
                      </a:solidFill>
                      <a:prstDash val="solid"/>
                      <a:round/>
                      <a:headEnd type="none" w="med" len="med"/>
                      <a:tailEnd type="none" w="med" len="med"/>
                    </a:lnL>
                    <a:lnR w="12700" cap="flat" cmpd="sng" algn="ctr">
                      <a:solidFill>
                        <a:srgbClr val="B5B0A3"/>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5B0A3"/>
                      </a:solidFill>
                      <a:prstDash val="solid"/>
                      <a:round/>
                      <a:headEnd type="none" w="med" len="med"/>
                      <a:tailEnd type="none" w="med" len="med"/>
                    </a:lnB>
                    <a:solidFill>
                      <a:srgbClr val="E3DCCB"/>
                    </a:solidFill>
                  </a:tcPr>
                </a:tc>
                <a:tc>
                  <a:txBody>
                    <a:bodyPr/>
                    <a:lstStyle/>
                    <a:p>
                      <a:pPr marL="0" indent="0">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1.300</a:t>
                      </a:r>
                      <a:endParaRPr lang="en-US" sz="1300" dirty="0">
                        <a:latin typeface="Times New Roman" charset="0"/>
                        <a:ea typeface="Times New Roman" charset="0"/>
                        <a:cs typeface="Times New Roman" charset="0"/>
                      </a:endParaRPr>
                    </a:p>
                  </a:txBody>
                  <a:tcPr marL="57785" marR="57785" marT="57785" marB="57785">
                    <a:lnL w="12700" cap="flat" cmpd="sng" algn="ctr">
                      <a:solidFill>
                        <a:srgbClr val="B5B0A3"/>
                      </a:solidFill>
                      <a:prstDash val="solid"/>
                      <a:round/>
                      <a:headEnd type="none" w="med" len="med"/>
                      <a:tailEnd type="none" w="med" len="med"/>
                    </a:lnL>
                    <a:lnR w="12700" cap="flat" cmpd="sng" algn="ctr">
                      <a:solidFill>
                        <a:srgbClr val="B5B0A3"/>
                      </a:solidFill>
                      <a:prstDash val="solid"/>
                      <a:round/>
                      <a:headEnd type="none" w="med" len="med"/>
                      <a:tailEnd type="none" w="med" len="med"/>
                    </a:lnR>
                    <a:lnT w="12700" cap="flat" cmpd="sng" algn="ctr">
                      <a:solidFill>
                        <a:srgbClr val="BCB9B2"/>
                      </a:solidFill>
                      <a:prstDash val="solid"/>
                      <a:round/>
                      <a:headEnd type="none" w="med" len="med"/>
                      <a:tailEnd type="none" w="med" len="med"/>
                    </a:lnT>
                    <a:lnB w="12700" cap="flat" cmpd="sng" algn="ctr">
                      <a:solidFill>
                        <a:srgbClr val="B5B0A3"/>
                      </a:solidFill>
                      <a:prstDash val="solid"/>
                      <a:round/>
                      <a:headEnd type="none" w="med" len="med"/>
                      <a:tailEnd type="none" w="med" len="med"/>
                    </a:lnB>
                    <a:solidFill>
                      <a:srgbClr val="E3DCCB"/>
                    </a:solidFill>
                  </a:tcPr>
                </a:tc>
                <a:extLst>
                  <a:ext uri="{0D108BD9-81ED-4DB2-BD59-A6C34878D82A}">
                    <a16:rowId xmlns:a16="http://schemas.microsoft.com/office/drawing/2014/main" val="10007"/>
                  </a:ext>
                </a:extLst>
              </a:tr>
            </a:tbl>
          </a:graphicData>
        </a:graphic>
      </p:graphicFrame>
      <p:sp>
        <p:nvSpPr>
          <p:cNvPr id="7" name="Text 4"/>
          <p:cNvSpPr/>
          <p:nvPr/>
        </p:nvSpPr>
        <p:spPr>
          <a:xfrm>
            <a:off x="7518284" y="1841283"/>
            <a:ext cx="3976685"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33"/>
                </a:solidFill>
                <a:latin typeface="Times New Roman" pitchFamily="34" charset="0"/>
                <a:ea typeface="Times New Roman" pitchFamily="34" charset="-122"/>
                <a:cs typeface="Times New Roman" pitchFamily="34" charset="-120"/>
              </a:rPr>
              <a:t>Cấu thành giá (triệu đồng)</a:t>
            </a:r>
            <a:endParaRPr lang="en-US" sz="1600" dirty="0"/>
          </a:p>
        </p:txBody>
      </p:sp>
      <p:sp>
        <p:nvSpPr>
          <p:cNvPr id="8" name="Shape 5"/>
          <p:cNvSpPr/>
          <p:nvPr/>
        </p:nvSpPr>
        <p:spPr>
          <a:xfrm>
            <a:off x="7518284" y="2177169"/>
            <a:ext cx="3860859" cy="0"/>
          </a:xfrm>
          <a:prstGeom prst="line">
            <a:avLst/>
          </a:prstGeom>
          <a:noFill/>
          <a:ln w="6350">
            <a:solidFill>
              <a:srgbClr val="D6D0C3"/>
            </a:solidFill>
            <a:prstDash val="solid"/>
          </a:ln>
        </p:spPr>
      </p:sp>
      <p:sp>
        <p:nvSpPr>
          <p:cNvPr id="9" name="Text 6"/>
          <p:cNvSpPr/>
          <p:nvPr/>
        </p:nvSpPr>
        <p:spPr>
          <a:xfrm>
            <a:off x="7518284" y="2305186"/>
            <a:ext cx="1883801"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Nhân công · 429 ngày công</a:t>
            </a:r>
            <a:endParaRPr lang="en-US" sz="1300" dirty="0"/>
          </a:p>
        </p:txBody>
      </p:sp>
      <p:sp>
        <p:nvSpPr>
          <p:cNvPr id="10" name="Text 7"/>
          <p:cNvSpPr/>
          <p:nvPr/>
        </p:nvSpPr>
        <p:spPr>
          <a:xfrm>
            <a:off x="10769646" y="2267558"/>
            <a:ext cx="660297"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B2433"/>
                </a:solidFill>
                <a:latin typeface="Times New Roman" pitchFamily="34" charset="0"/>
                <a:ea typeface="Times New Roman" pitchFamily="34" charset="-122"/>
                <a:cs typeface="Times New Roman" pitchFamily="34" charset="-120"/>
              </a:rPr>
              <a:t>1.101,9</a:t>
            </a:r>
            <a:endParaRPr lang="en-US" sz="1600" dirty="0"/>
          </a:p>
        </p:txBody>
      </p:sp>
      <p:sp>
        <p:nvSpPr>
          <p:cNvPr id="11" name="Shape 8"/>
          <p:cNvSpPr/>
          <p:nvPr/>
        </p:nvSpPr>
        <p:spPr>
          <a:xfrm>
            <a:off x="7518284" y="2644087"/>
            <a:ext cx="3860859" cy="0"/>
          </a:xfrm>
          <a:prstGeom prst="line">
            <a:avLst/>
          </a:prstGeom>
          <a:noFill/>
          <a:ln w="6350">
            <a:solidFill>
              <a:srgbClr val="D6D0C3"/>
            </a:solidFill>
            <a:prstDash val="solid"/>
          </a:ln>
        </p:spPr>
      </p:sp>
      <p:sp>
        <p:nvSpPr>
          <p:cNvPr id="12" name="Text 9"/>
          <p:cNvSpPr/>
          <p:nvPr/>
        </p:nvSpPr>
        <p:spPr>
          <a:xfrm>
            <a:off x="7518284" y="2772104"/>
            <a:ext cx="1293092"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Bảo hành 12 tháng</a:t>
            </a:r>
            <a:endParaRPr lang="en-US" sz="1300" dirty="0"/>
          </a:p>
        </p:txBody>
      </p:sp>
      <p:sp>
        <p:nvSpPr>
          <p:cNvPr id="13" name="Text 10"/>
          <p:cNvSpPr/>
          <p:nvPr/>
        </p:nvSpPr>
        <p:spPr>
          <a:xfrm>
            <a:off x="10857031" y="2734475"/>
            <a:ext cx="572911"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B2433"/>
                </a:solidFill>
                <a:latin typeface="Times New Roman" pitchFamily="34" charset="0"/>
                <a:ea typeface="Times New Roman" pitchFamily="34" charset="-122"/>
                <a:cs typeface="Times New Roman" pitchFamily="34" charset="-120"/>
              </a:rPr>
              <a:t>+ 75,0</a:t>
            </a:r>
            <a:endParaRPr lang="en-US" sz="1600" dirty="0"/>
          </a:p>
        </p:txBody>
      </p:sp>
      <p:sp>
        <p:nvSpPr>
          <p:cNvPr id="14" name="Shape 11"/>
          <p:cNvSpPr/>
          <p:nvPr/>
        </p:nvSpPr>
        <p:spPr>
          <a:xfrm>
            <a:off x="7518284" y="3111004"/>
            <a:ext cx="3860859" cy="0"/>
          </a:xfrm>
          <a:prstGeom prst="line">
            <a:avLst/>
          </a:prstGeom>
          <a:noFill/>
          <a:ln w="6350">
            <a:solidFill>
              <a:srgbClr val="D6D0C3"/>
            </a:solidFill>
            <a:prstDash val="solid"/>
          </a:ln>
        </p:spPr>
      </p:sp>
      <p:sp>
        <p:nvSpPr>
          <p:cNvPr id="15" name="Text 12"/>
          <p:cNvSpPr/>
          <p:nvPr/>
        </p:nvSpPr>
        <p:spPr>
          <a:xfrm>
            <a:off x="7518284" y="3239021"/>
            <a:ext cx="1699081"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3"/>
                </a:solidFill>
                <a:latin typeface="Times New Roman" pitchFamily="34" charset="0"/>
                <a:ea typeface="Times New Roman" pitchFamily="34" charset="-122"/>
                <a:cs typeface="Times New Roman" pitchFamily="34" charset="-120"/>
              </a:rPr>
              <a:t>Dự phòng rủi ro tích hợp</a:t>
            </a:r>
            <a:endParaRPr lang="en-US" sz="1300" dirty="0"/>
          </a:p>
        </p:txBody>
      </p:sp>
      <p:sp>
        <p:nvSpPr>
          <p:cNvPr id="16" name="Text 13"/>
          <p:cNvSpPr/>
          <p:nvPr/>
        </p:nvSpPr>
        <p:spPr>
          <a:xfrm>
            <a:off x="10755461" y="3201386"/>
            <a:ext cx="674482" cy="30990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B2433"/>
                </a:solidFill>
                <a:latin typeface="Times New Roman" pitchFamily="34" charset="0"/>
                <a:ea typeface="Times New Roman" pitchFamily="34" charset="-122"/>
                <a:cs typeface="Times New Roman" pitchFamily="34" charset="-120"/>
              </a:rPr>
              <a:t>+ 123,1</a:t>
            </a:r>
            <a:endParaRPr lang="en-US" sz="1600" dirty="0"/>
          </a:p>
        </p:txBody>
      </p:sp>
      <p:sp>
        <p:nvSpPr>
          <p:cNvPr id="17" name="Shape 14"/>
          <p:cNvSpPr/>
          <p:nvPr/>
        </p:nvSpPr>
        <p:spPr>
          <a:xfrm>
            <a:off x="7518284" y="3584271"/>
            <a:ext cx="3860859" cy="0"/>
          </a:xfrm>
          <a:prstGeom prst="line">
            <a:avLst/>
          </a:prstGeom>
          <a:noFill/>
          <a:ln w="19050">
            <a:solidFill>
              <a:srgbClr val="1B2433"/>
            </a:solidFill>
            <a:prstDash val="solid"/>
          </a:ln>
        </p:spPr>
      </p:sp>
      <p:sp>
        <p:nvSpPr>
          <p:cNvPr id="18" name="Text 15"/>
          <p:cNvSpPr/>
          <p:nvPr/>
        </p:nvSpPr>
        <p:spPr>
          <a:xfrm>
            <a:off x="7518284" y="3771788"/>
            <a:ext cx="902024"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Times New Roman" pitchFamily="34" charset="0"/>
                <a:ea typeface="Times New Roman" pitchFamily="34" charset="-122"/>
                <a:cs typeface="Times New Roman" pitchFamily="34" charset="-120"/>
              </a:rPr>
              <a:t>Giá dự thầu</a:t>
            </a:r>
            <a:endParaRPr lang="en-US" sz="1300" dirty="0"/>
          </a:p>
        </p:txBody>
      </p:sp>
      <p:sp>
        <p:nvSpPr>
          <p:cNvPr id="19" name="Text 16"/>
          <p:cNvSpPr/>
          <p:nvPr/>
        </p:nvSpPr>
        <p:spPr>
          <a:xfrm>
            <a:off x="10617216" y="3682417"/>
            <a:ext cx="812727" cy="380971"/>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B2433"/>
                </a:solidFill>
                <a:latin typeface="Times New Roman" pitchFamily="34" charset="0"/>
                <a:ea typeface="Times New Roman" pitchFamily="34" charset="-122"/>
                <a:cs typeface="Times New Roman" pitchFamily="34" charset="-120"/>
              </a:rPr>
              <a:t>1.300,0</a:t>
            </a:r>
            <a:endParaRPr lang="en-US" sz="2000" dirty="0"/>
          </a:p>
        </p:txBody>
      </p:sp>
      <p:sp>
        <p:nvSpPr>
          <p:cNvPr id="20" name="Shape 17"/>
          <p:cNvSpPr/>
          <p:nvPr/>
        </p:nvSpPr>
        <p:spPr>
          <a:xfrm>
            <a:off x="7518284" y="4136368"/>
            <a:ext cx="3860859" cy="0"/>
          </a:xfrm>
          <a:prstGeom prst="line">
            <a:avLst/>
          </a:prstGeom>
          <a:noFill/>
          <a:ln w="19050">
            <a:solidFill>
              <a:srgbClr val="1B2433"/>
            </a:solidFill>
            <a:prstDash val="solid"/>
          </a:ln>
        </p:spPr>
      </p:sp>
      <p:sp>
        <p:nvSpPr>
          <p:cNvPr id="21" name="Text 18"/>
          <p:cNvSpPr/>
          <p:nvPr/>
        </p:nvSpPr>
        <p:spPr>
          <a:xfrm>
            <a:off x="7518284" y="4323885"/>
            <a:ext cx="1247599" cy="256469"/>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3"/>
                </a:solidFill>
                <a:latin typeface="Times New Roman" pitchFamily="34" charset="0"/>
                <a:ea typeface="Times New Roman" pitchFamily="34" charset="-122"/>
                <a:cs typeface="Times New Roman" pitchFamily="34" charset="-120"/>
              </a:rPr>
              <a:t>Sau giảm giá 5%</a:t>
            </a:r>
            <a:endParaRPr lang="en-US" sz="1300" dirty="0"/>
          </a:p>
        </p:txBody>
      </p:sp>
      <p:sp>
        <p:nvSpPr>
          <p:cNvPr id="22" name="Text 19"/>
          <p:cNvSpPr/>
          <p:nvPr/>
        </p:nvSpPr>
        <p:spPr>
          <a:xfrm>
            <a:off x="10617216" y="4234514"/>
            <a:ext cx="812727" cy="380971"/>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B5482F"/>
                </a:solidFill>
                <a:latin typeface="Times New Roman" pitchFamily="34" charset="0"/>
                <a:ea typeface="Times New Roman" pitchFamily="34" charset="-122"/>
                <a:cs typeface="Times New Roman" pitchFamily="34" charset="-120"/>
              </a:rPr>
              <a:t>1.235,0</a:t>
            </a:r>
            <a:endParaRPr lang="en-US" sz="2000" dirty="0"/>
          </a:p>
        </p:txBody>
      </p:sp>
      <p:sp>
        <p:nvSpPr>
          <p:cNvPr id="23" name="Text 20"/>
          <p:cNvSpPr/>
          <p:nvPr/>
        </p:nvSpPr>
        <p:spPr>
          <a:xfrm>
            <a:off x="7518284" y="4678939"/>
            <a:ext cx="3976685" cy="436827"/>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263"/>
                </a:solidFill>
                <a:latin typeface="Times New Roman" pitchFamily="34" charset="0"/>
                <a:ea typeface="Times New Roman" pitchFamily="34" charset="-122"/>
                <a:cs typeface="Times New Roman" pitchFamily="34" charset="-120"/>
              </a:rPr>
              <a:t>Đơn giá: QLDA và Technical Lead 3,0; lập trình 2,4; kiểm thử, triển khai 2,2 triệu/ngày công.</a:t>
            </a:r>
            <a:endParaRPr lang="en-US" sz="1200" dirty="0"/>
          </a:p>
        </p:txBody>
      </p:sp>
      <p:sp>
        <p:nvSpPr>
          <p:cNvPr id="24" name="Text 21"/>
          <p:cNvSpPr/>
          <p:nvPr/>
        </p:nvSpPr>
        <p:spPr>
          <a:xfrm>
            <a:off x="812785" y="6238218"/>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Times New Roman" pitchFamily="34" charset="0"/>
                <a:ea typeface="Times New Roman" pitchFamily="34" charset="-122"/>
                <a:cs typeface="Times New Roman" pitchFamily="34" charset="-120"/>
              </a:rPr>
              <a:t>Công ty TNHH Group 6 · Đề xuất website thương mại điện tử ABC Wear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85" y="812781"/>
            <a:ext cx="10883348" cy="256469"/>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5482F"/>
                </a:solidFill>
                <a:latin typeface="Times New Roman" pitchFamily="34" charset="0"/>
                <a:ea typeface="Times New Roman" pitchFamily="34" charset="-122"/>
                <a:cs typeface="Times New Roman" pitchFamily="34" charset="-120"/>
              </a:rPr>
              <a:t>09 · GIÁ VÀ CHI PHÍ</a:t>
            </a:r>
            <a:endParaRPr lang="en-US" sz="1300" dirty="0"/>
          </a:p>
        </p:txBody>
      </p:sp>
      <p:sp>
        <p:nvSpPr>
          <p:cNvPr id="3" name="Text 1"/>
          <p:cNvSpPr/>
          <p:nvPr/>
        </p:nvSpPr>
        <p:spPr>
          <a:xfrm>
            <a:off x="812785" y="1119994"/>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B2433"/>
                </a:solidFill>
                <a:latin typeface="Times New Roman" pitchFamily="34" charset="0"/>
                <a:ea typeface="Times New Roman" pitchFamily="34" charset="-122"/>
                <a:cs typeface="Times New Roman" pitchFamily="34" charset="-120"/>
              </a:rPr>
              <a:t>Chi phí không nằm trong giá</a:t>
            </a:r>
            <a:endParaRPr lang="en-US" sz="3200" dirty="0"/>
          </a:p>
        </p:txBody>
      </p:sp>
      <p:sp>
        <p:nvSpPr>
          <p:cNvPr id="4" name="Text 2"/>
          <p:cNvSpPr/>
          <p:nvPr/>
        </p:nvSpPr>
        <p:spPr>
          <a:xfrm>
            <a:off x="812785" y="1841277"/>
            <a:ext cx="10883348" cy="333934"/>
          </a:xfrm>
          <a:prstGeom prst="rect">
            <a:avLst/>
          </a:prstGeom>
          <a:noFill/>
          <a:ln/>
        </p:spPr>
        <p:txBody>
          <a:bodyPr wrap="square" lIns="0" tIns="0" rIns="0" bIns="0" rtlCol="0" anchor="t">
            <a:normAutofit/>
          </a:bodyPr>
          <a:lstStyle/>
          <a:p>
            <a:pPr marL="0" indent="0" algn="l">
              <a:lnSpc>
                <a:spcPts val="2430"/>
              </a:lnSpc>
              <a:buNone/>
            </a:pPr>
            <a:r>
              <a:rPr lang="en-US" sz="1800" b="1" dirty="0">
                <a:solidFill>
                  <a:srgbClr val="1B2433"/>
                </a:solidFill>
                <a:latin typeface="Times New Roman" pitchFamily="34" charset="0"/>
                <a:ea typeface="Times New Roman" pitchFamily="34" charset="-122"/>
                <a:cs typeface="Times New Roman" pitchFamily="34" charset="-120"/>
              </a:rPr>
              <a:t>Giá dự thầu không phải toàn bộ chi phí vận hành của ABC Wear.</a:t>
            </a:r>
            <a:endParaRPr lang="en-US" sz="1800" dirty="0"/>
          </a:p>
        </p:txBody>
      </p:sp>
      <p:sp>
        <p:nvSpPr>
          <p:cNvPr id="5" name="Shape 3"/>
          <p:cNvSpPr/>
          <p:nvPr/>
        </p:nvSpPr>
        <p:spPr>
          <a:xfrm>
            <a:off x="812785" y="2403735"/>
            <a:ext cx="5181571" cy="1835621"/>
          </a:xfrm>
          <a:prstGeom prst="roundRect">
            <a:avLst>
              <a:gd name="adj" fmla="val 5535"/>
            </a:avLst>
          </a:prstGeom>
          <a:solidFill>
            <a:srgbClr val="ECE8DF"/>
          </a:solidFill>
          <a:ln/>
        </p:spPr>
      </p:sp>
      <p:sp>
        <p:nvSpPr>
          <p:cNvPr id="6" name="Shape 4"/>
          <p:cNvSpPr/>
          <p:nvPr/>
        </p:nvSpPr>
        <p:spPr>
          <a:xfrm>
            <a:off x="812785" y="2403735"/>
            <a:ext cx="5181571" cy="1835621"/>
          </a:xfrm>
          <a:custGeom>
            <a:avLst/>
            <a:gdLst/>
            <a:ahLst/>
            <a:cxnLst/>
            <a:rect l="l" t="t" r="r" b="b"/>
            <a:pathLst>
              <a:path w="5181571" h="1835621">
                <a:moveTo>
                  <a:pt x="0" y="101600"/>
                </a:moveTo>
                <a:lnTo>
                  <a:pt x="0" y="101600"/>
                </a:lnTo>
                <a:arcTo wR="101600" hR="101600" stAng="10800000" swAng="5400000"/>
                <a:lnTo>
                  <a:pt x="5079971" y="0"/>
                </a:lnTo>
                <a:arcTo wR="101600" hR="101600" stAng="16200000" swAng="5400000"/>
                <a:lnTo>
                  <a:pt x="5181571" y="101600"/>
                </a:lnTo>
                <a:arcTo wR="101600" hR="63500" stAng="0" swAng="-5400000"/>
                <a:lnTo>
                  <a:pt x="101600" y="38100"/>
                </a:lnTo>
                <a:arcTo wR="101600" hR="63500" stAng="16200000" swAng="-5400000"/>
                <a:close/>
              </a:path>
            </a:pathLst>
          </a:custGeom>
          <a:solidFill>
            <a:srgbClr val="2F5D8C"/>
          </a:solidFill>
          <a:ln/>
        </p:spPr>
      </p:sp>
      <p:sp>
        <p:nvSpPr>
          <p:cNvPr id="7" name="Text 5"/>
          <p:cNvSpPr/>
          <p:nvPr/>
        </p:nvSpPr>
        <p:spPr>
          <a:xfrm>
            <a:off x="1041356" y="2669939"/>
            <a:ext cx="4866163"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5D8C"/>
                </a:solidFill>
                <a:latin typeface="Times New Roman" pitchFamily="34" charset="0"/>
                <a:ea typeface="Times New Roman" pitchFamily="34" charset="-122"/>
                <a:cs typeface="Times New Roman" pitchFamily="34" charset="-120"/>
              </a:rPr>
              <a:t>Nhà thầu · một lần, đã trong giá</a:t>
            </a:r>
            <a:endParaRPr lang="en-US" sz="1600" dirty="0"/>
          </a:p>
        </p:txBody>
      </p:sp>
      <p:sp>
        <p:nvSpPr>
          <p:cNvPr id="8" name="Text 6"/>
          <p:cNvSpPr/>
          <p:nvPr/>
        </p:nvSpPr>
        <p:spPr>
          <a:xfrm>
            <a:off x="1138638" y="3015369"/>
            <a:ext cx="4761261" cy="771966"/>
          </a:xfrm>
          <a:prstGeom prst="rect">
            <a:avLst/>
          </a:prstGeom>
          <a:noFill/>
          <a:ln/>
        </p:spPr>
        <p:txBody>
          <a:bodyPr wrap="square" lIns="0" tIns="0" rIns="0" bIns="0" rtlCol="0" anchor="t">
            <a:normAutofit/>
          </a:bodyPr>
          <a:lstStyle/>
          <a:p>
            <a:pPr marL="156718" indent="-156718" algn="l">
              <a:lnSpc>
                <a:spcPts val="1960"/>
              </a:lnSpc>
              <a:buSzPct val="100000"/>
              <a:buChar char="•"/>
            </a:pPr>
            <a:r>
              <a:rPr lang="en-US" sz="1400" dirty="0">
                <a:solidFill>
                  <a:srgbClr val="1B2433"/>
                </a:solidFill>
                <a:latin typeface="Times New Roman" pitchFamily="34" charset="0"/>
                <a:ea typeface="Times New Roman" pitchFamily="34" charset="-122"/>
                <a:cs typeface="Times New Roman" pitchFamily="34" charset="-120"/>
              </a:rPr>
              <a:t>Phát triển, kiểm thử, triển khai, đào tạo</a:t>
            </a:r>
            <a:endParaRPr lang="en-US" sz="1400" dirty="0"/>
          </a:p>
          <a:p>
            <a:pPr marL="156718" indent="-156718" algn="l">
              <a:lnSpc>
                <a:spcPts val="1960"/>
              </a:lnSpc>
              <a:buSzPct val="100000"/>
              <a:buChar char="•"/>
            </a:pPr>
            <a:r>
              <a:rPr lang="en-US" sz="1400" dirty="0">
                <a:solidFill>
                  <a:srgbClr val="1B2433"/>
                </a:solidFill>
                <a:latin typeface="Times New Roman" pitchFamily="34" charset="0"/>
                <a:ea typeface="Times New Roman" pitchFamily="34" charset="-122"/>
                <a:cs typeface="Times New Roman" pitchFamily="34" charset="-120"/>
              </a:rPr>
              <a:t>Hỗ trợ và bảo hành 12 tháng, trực 24 giờ</a:t>
            </a:r>
            <a:endParaRPr lang="en-US" sz="1400" dirty="0"/>
          </a:p>
          <a:p>
            <a:pPr marL="156718" indent="-156718" algn="l">
              <a:lnSpc>
                <a:spcPts val="1960"/>
              </a:lnSpc>
              <a:buSzPct val="100000"/>
              <a:buChar char="•"/>
            </a:pPr>
            <a:r>
              <a:rPr lang="en-US" sz="1400" dirty="0">
                <a:solidFill>
                  <a:srgbClr val="1B2433"/>
                </a:solidFill>
                <a:latin typeface="Times New Roman" pitchFamily="34" charset="0"/>
                <a:ea typeface="Times New Roman" pitchFamily="34" charset="-122"/>
                <a:cs typeface="Times New Roman" pitchFamily="34" charset="-120"/>
              </a:rPr>
              <a:t>Phí bảo lãnh ngân hàng</a:t>
            </a:r>
            <a:endParaRPr lang="en-US" sz="1400" dirty="0"/>
          </a:p>
        </p:txBody>
      </p:sp>
      <p:sp>
        <p:nvSpPr>
          <p:cNvPr id="9" name="Shape 7"/>
          <p:cNvSpPr/>
          <p:nvPr/>
        </p:nvSpPr>
        <p:spPr>
          <a:xfrm>
            <a:off x="6197498" y="2403735"/>
            <a:ext cx="5181645" cy="1835621"/>
          </a:xfrm>
          <a:prstGeom prst="roundRect">
            <a:avLst>
              <a:gd name="adj" fmla="val 5535"/>
            </a:avLst>
          </a:prstGeom>
          <a:solidFill>
            <a:srgbClr val="ECE8DF"/>
          </a:solidFill>
          <a:ln/>
        </p:spPr>
      </p:sp>
      <p:sp>
        <p:nvSpPr>
          <p:cNvPr id="10" name="Shape 8"/>
          <p:cNvSpPr/>
          <p:nvPr/>
        </p:nvSpPr>
        <p:spPr>
          <a:xfrm>
            <a:off x="6197498" y="2403735"/>
            <a:ext cx="5181645" cy="1835621"/>
          </a:xfrm>
          <a:custGeom>
            <a:avLst/>
            <a:gdLst/>
            <a:ahLst/>
            <a:cxnLst/>
            <a:rect l="l" t="t" r="r" b="b"/>
            <a:pathLst>
              <a:path w="5181645" h="1835621">
                <a:moveTo>
                  <a:pt x="0" y="101600"/>
                </a:moveTo>
                <a:lnTo>
                  <a:pt x="0" y="101600"/>
                </a:lnTo>
                <a:arcTo wR="101600" hR="101600" stAng="10800000" swAng="5400000"/>
                <a:lnTo>
                  <a:pt x="5080045" y="0"/>
                </a:lnTo>
                <a:arcTo wR="101600" hR="101600" stAng="16200000" swAng="5400000"/>
                <a:lnTo>
                  <a:pt x="5181645" y="101600"/>
                </a:lnTo>
                <a:arcTo wR="101600" hR="63500" stAng="0" swAng="-5400000"/>
                <a:lnTo>
                  <a:pt x="101600" y="38100"/>
                </a:lnTo>
                <a:arcTo wR="101600" hR="63500" stAng="16200000" swAng="-5400000"/>
                <a:close/>
              </a:path>
            </a:pathLst>
          </a:custGeom>
          <a:solidFill>
            <a:srgbClr val="B5482F"/>
          </a:solidFill>
          <a:ln/>
        </p:spPr>
      </p:sp>
      <p:sp>
        <p:nvSpPr>
          <p:cNvPr id="11" name="Text 9"/>
          <p:cNvSpPr/>
          <p:nvPr/>
        </p:nvSpPr>
        <p:spPr>
          <a:xfrm>
            <a:off x="6426069" y="2669939"/>
            <a:ext cx="4866239"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5482F"/>
                </a:solidFill>
                <a:latin typeface="Times New Roman" pitchFamily="34" charset="0"/>
                <a:ea typeface="Times New Roman" pitchFamily="34" charset="-122"/>
                <a:cs typeface="Times New Roman" pitchFamily="34" charset="-120"/>
              </a:rPr>
              <a:t>ABC Wear · định kỳ</a:t>
            </a:r>
            <a:endParaRPr lang="en-US" sz="1600" dirty="0"/>
          </a:p>
        </p:txBody>
      </p:sp>
      <p:sp>
        <p:nvSpPr>
          <p:cNvPr id="12" name="Text 10"/>
          <p:cNvSpPr/>
          <p:nvPr/>
        </p:nvSpPr>
        <p:spPr>
          <a:xfrm>
            <a:off x="6523351" y="3015369"/>
            <a:ext cx="4761337" cy="1020821"/>
          </a:xfrm>
          <a:prstGeom prst="rect">
            <a:avLst/>
          </a:prstGeom>
          <a:noFill/>
          <a:ln/>
        </p:spPr>
        <p:txBody>
          <a:bodyPr wrap="square" lIns="0" tIns="0" rIns="0" bIns="0" rtlCol="0" anchor="t">
            <a:normAutofit/>
          </a:bodyPr>
          <a:lstStyle/>
          <a:p>
            <a:pPr marL="156718" indent="-156718" algn="l">
              <a:lnSpc>
                <a:spcPts val="1960"/>
              </a:lnSpc>
              <a:buSzPct val="100000"/>
              <a:buChar char="•"/>
            </a:pPr>
            <a:r>
              <a:rPr lang="en-US" sz="1400" dirty="0">
                <a:solidFill>
                  <a:srgbClr val="1B2433"/>
                </a:solidFill>
                <a:latin typeface="Times New Roman" pitchFamily="34" charset="0"/>
                <a:ea typeface="Times New Roman" pitchFamily="34" charset="-122"/>
                <a:cs typeface="Times New Roman" pitchFamily="34" charset="-120"/>
              </a:rPr>
              <a:t>Thuê máy chủ, lưu trữ, sao lưu</a:t>
            </a:r>
            <a:endParaRPr lang="en-US" sz="1400" dirty="0"/>
          </a:p>
          <a:p>
            <a:pPr marL="156718" indent="-156718" algn="l">
              <a:lnSpc>
                <a:spcPts val="1960"/>
              </a:lnSpc>
              <a:buSzPct val="100000"/>
              <a:buChar char="•"/>
            </a:pPr>
            <a:r>
              <a:rPr lang="en-US" sz="1400" dirty="0">
                <a:solidFill>
                  <a:srgbClr val="1B2433"/>
                </a:solidFill>
                <a:latin typeface="Times New Roman" pitchFamily="34" charset="0"/>
                <a:ea typeface="Times New Roman" pitchFamily="34" charset="-122"/>
                <a:cs typeface="Times New Roman" pitchFamily="34" charset="-120"/>
              </a:rPr>
              <a:t>Băng thông và mạng phân phối nội dung</a:t>
            </a:r>
            <a:endParaRPr lang="en-US" sz="1400" dirty="0"/>
          </a:p>
          <a:p>
            <a:pPr marL="156718" indent="-156718" algn="l">
              <a:lnSpc>
                <a:spcPts val="1960"/>
              </a:lnSpc>
              <a:buSzPct val="100000"/>
              <a:buChar char="•"/>
            </a:pPr>
            <a:r>
              <a:rPr lang="en-US" sz="1400" dirty="0">
                <a:solidFill>
                  <a:srgbClr val="1B2433"/>
                </a:solidFill>
                <a:latin typeface="Times New Roman" pitchFamily="34" charset="0"/>
                <a:ea typeface="Times New Roman" pitchFamily="34" charset="-122"/>
                <a:cs typeface="Times New Roman" pitchFamily="34" charset="-120"/>
              </a:rPr>
              <a:t>Chứng thư số SSL/TLS</a:t>
            </a:r>
            <a:endParaRPr lang="en-US" sz="1400" dirty="0"/>
          </a:p>
          <a:p>
            <a:pPr marL="156718" indent="-156718" algn="l">
              <a:lnSpc>
                <a:spcPts val="1960"/>
              </a:lnSpc>
              <a:buSzPct val="100000"/>
              <a:buChar char="•"/>
            </a:pPr>
            <a:r>
              <a:rPr lang="en-US" sz="1400" dirty="0">
                <a:solidFill>
                  <a:srgbClr val="1B2433"/>
                </a:solidFill>
                <a:latin typeface="Times New Roman" pitchFamily="34" charset="0"/>
                <a:ea typeface="Times New Roman" pitchFamily="34" charset="-122"/>
                <a:cs typeface="Times New Roman" pitchFamily="34" charset="-120"/>
              </a:rPr>
              <a:t>Phí cổng thanh toán, dịch vụ OTP và thư điện tử</a:t>
            </a:r>
            <a:endParaRPr lang="en-US" sz="1400" dirty="0"/>
          </a:p>
        </p:txBody>
      </p:sp>
      <p:sp>
        <p:nvSpPr>
          <p:cNvPr id="13" name="Text 11"/>
          <p:cNvSpPr/>
          <p:nvPr/>
        </p:nvSpPr>
        <p:spPr>
          <a:xfrm>
            <a:off x="812785" y="6238211"/>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Times New Roman" pitchFamily="34" charset="0"/>
                <a:ea typeface="Times New Roman" pitchFamily="34" charset="-122"/>
                <a:cs typeface="Times New Roman" pitchFamily="34" charset="-120"/>
              </a:rPr>
              <a:t>Công ty TNHH Group 6 · Đề xuất website thương mại điện tử ABC Wear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85" y="812788"/>
            <a:ext cx="10883348" cy="256469"/>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5482F"/>
                </a:solidFill>
                <a:latin typeface="Times New Roman" pitchFamily="34" charset="0"/>
                <a:ea typeface="Times New Roman" pitchFamily="34" charset="-122"/>
                <a:cs typeface="Times New Roman" pitchFamily="34" charset="-120"/>
              </a:rPr>
              <a:t>10 · ĐIỀU KIỆN HỢP ĐỒNG</a:t>
            </a:r>
            <a:endParaRPr lang="en-US" sz="1300" dirty="0"/>
          </a:p>
        </p:txBody>
      </p:sp>
      <p:sp>
        <p:nvSpPr>
          <p:cNvPr id="3" name="Text 1"/>
          <p:cNvSpPr/>
          <p:nvPr/>
        </p:nvSpPr>
        <p:spPr>
          <a:xfrm>
            <a:off x="812785" y="1119994"/>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B2433"/>
                </a:solidFill>
                <a:latin typeface="Times New Roman" pitchFamily="34" charset="0"/>
                <a:ea typeface="Times New Roman" pitchFamily="34" charset="-122"/>
                <a:cs typeface="Times New Roman" pitchFamily="34" charset="-120"/>
              </a:rPr>
              <a:t>Điều kiện hợp đồng</a:t>
            </a:r>
            <a:endParaRPr lang="en-US" sz="3200" dirty="0"/>
          </a:p>
        </p:txBody>
      </p:sp>
      <p:sp>
        <p:nvSpPr>
          <p:cNvPr id="4" name="Shape 2"/>
          <p:cNvSpPr/>
          <p:nvPr/>
        </p:nvSpPr>
        <p:spPr>
          <a:xfrm>
            <a:off x="812785" y="1841283"/>
            <a:ext cx="5207001" cy="1175706"/>
          </a:xfrm>
          <a:prstGeom prst="roundRect">
            <a:avLst>
              <a:gd name="adj" fmla="val 8642"/>
            </a:avLst>
          </a:prstGeom>
          <a:solidFill>
            <a:srgbClr val="ECE8DF"/>
          </a:solidFill>
          <a:ln/>
        </p:spPr>
      </p:sp>
      <p:sp>
        <p:nvSpPr>
          <p:cNvPr id="5" name="Text 3"/>
          <p:cNvSpPr/>
          <p:nvPr/>
        </p:nvSpPr>
        <p:spPr>
          <a:xfrm>
            <a:off x="1015927" y="2044421"/>
            <a:ext cx="4944740"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33"/>
                </a:solidFill>
                <a:latin typeface="Times New Roman" pitchFamily="34" charset="0"/>
                <a:ea typeface="Times New Roman" pitchFamily="34" charset="-122"/>
                <a:cs typeface="Times New Roman" pitchFamily="34" charset="-120"/>
              </a:rPr>
              <a:t>Thanh toán 20/30/40/10</a:t>
            </a:r>
            <a:endParaRPr lang="en-US" sz="1600" dirty="0"/>
          </a:p>
        </p:txBody>
      </p:sp>
      <p:sp>
        <p:nvSpPr>
          <p:cNvPr id="6" name="Text 4"/>
          <p:cNvSpPr/>
          <p:nvPr/>
        </p:nvSpPr>
        <p:spPr>
          <a:xfrm>
            <a:off x="1015927" y="2351708"/>
            <a:ext cx="4944740"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3"/>
                </a:solidFill>
                <a:latin typeface="Times New Roman" pitchFamily="34" charset="0"/>
                <a:ea typeface="Times New Roman" pitchFamily="34" charset="-122"/>
                <a:cs typeface="Times New Roman" pitchFamily="34" charset="-120"/>
              </a:rPr>
              <a:t>Trọn gói, không tạm ứng, gắn với đầu ra D01–D08.</a:t>
            </a:r>
            <a:endParaRPr lang="en-US" sz="1300" dirty="0"/>
          </a:p>
        </p:txBody>
      </p:sp>
      <p:sp>
        <p:nvSpPr>
          <p:cNvPr id="7" name="Shape 5"/>
          <p:cNvSpPr/>
          <p:nvPr/>
        </p:nvSpPr>
        <p:spPr>
          <a:xfrm>
            <a:off x="6172142" y="1841283"/>
            <a:ext cx="5207001" cy="1175706"/>
          </a:xfrm>
          <a:prstGeom prst="roundRect">
            <a:avLst>
              <a:gd name="adj" fmla="val 8642"/>
            </a:avLst>
          </a:prstGeom>
          <a:solidFill>
            <a:srgbClr val="ECE8DF"/>
          </a:solidFill>
          <a:ln/>
        </p:spPr>
      </p:sp>
      <p:sp>
        <p:nvSpPr>
          <p:cNvPr id="8" name="Text 6"/>
          <p:cNvSpPr/>
          <p:nvPr/>
        </p:nvSpPr>
        <p:spPr>
          <a:xfrm>
            <a:off x="6375283" y="2044421"/>
            <a:ext cx="4944740"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33"/>
                </a:solidFill>
                <a:latin typeface="Times New Roman" pitchFamily="34" charset="0"/>
                <a:ea typeface="Times New Roman" pitchFamily="34" charset="-122"/>
                <a:cs typeface="Times New Roman" pitchFamily="34" charset="-120"/>
              </a:rPr>
              <a:t>Bảo lãnh bảo hành 10%</a:t>
            </a:r>
            <a:endParaRPr lang="en-US" sz="1600" dirty="0"/>
          </a:p>
        </p:txBody>
      </p:sp>
      <p:sp>
        <p:nvSpPr>
          <p:cNvPr id="9" name="Text 7"/>
          <p:cNvSpPr/>
          <p:nvPr/>
        </p:nvSpPr>
        <p:spPr>
          <a:xfrm>
            <a:off x="6375283" y="2351708"/>
            <a:ext cx="4944740"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3"/>
                </a:solidFill>
                <a:latin typeface="Times New Roman" pitchFamily="34" charset="0"/>
                <a:ea typeface="Times New Roman" pitchFamily="34" charset="-122"/>
                <a:cs typeface="Times New Roman" pitchFamily="34" charset="-120"/>
              </a:rPr>
              <a:t>Đổi lấy đợt 10% cuối; ngân hàng thương mại phát hành; phí do nhà thầu chịu.</a:t>
            </a:r>
            <a:endParaRPr lang="en-US" sz="1300" dirty="0"/>
          </a:p>
        </p:txBody>
      </p:sp>
      <p:sp>
        <p:nvSpPr>
          <p:cNvPr id="10" name="Shape 8"/>
          <p:cNvSpPr/>
          <p:nvPr/>
        </p:nvSpPr>
        <p:spPr>
          <a:xfrm>
            <a:off x="812785" y="3169345"/>
            <a:ext cx="5207001" cy="1175706"/>
          </a:xfrm>
          <a:prstGeom prst="roundRect">
            <a:avLst>
              <a:gd name="adj" fmla="val 8642"/>
            </a:avLst>
          </a:prstGeom>
          <a:solidFill>
            <a:srgbClr val="ECE8DF"/>
          </a:solidFill>
          <a:ln/>
        </p:spPr>
      </p:sp>
      <p:sp>
        <p:nvSpPr>
          <p:cNvPr id="11" name="Text 9"/>
          <p:cNvSpPr/>
          <p:nvPr/>
        </p:nvSpPr>
        <p:spPr>
          <a:xfrm>
            <a:off x="1015927" y="3372483"/>
            <a:ext cx="4944740"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33"/>
                </a:solidFill>
                <a:latin typeface="Times New Roman" pitchFamily="34" charset="0"/>
                <a:ea typeface="Times New Roman" pitchFamily="34" charset="-122"/>
                <a:cs typeface="Times New Roman" pitchFamily="34" charset="-120"/>
              </a:rPr>
              <a:t>Biên độ khối lượng 5%</a:t>
            </a:r>
            <a:endParaRPr lang="en-US" sz="1600" dirty="0"/>
          </a:p>
        </p:txBody>
      </p:sp>
      <p:sp>
        <p:nvSpPr>
          <p:cNvPr id="12" name="Text 10"/>
          <p:cNvSpPr/>
          <p:nvPr/>
        </p:nvSpPr>
        <p:spPr>
          <a:xfrm>
            <a:off x="1015927" y="3679769"/>
            <a:ext cx="4944740" cy="25646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3"/>
                </a:solidFill>
                <a:latin typeface="Times New Roman" pitchFamily="34" charset="0"/>
                <a:ea typeface="Times New Roman" pitchFamily="34" charset="-122"/>
                <a:cs typeface="Times New Roman" pitchFamily="34" charset="-120"/>
              </a:rPr>
              <a:t>Tại thời điểm trao hợp đồng, định giá theo đơn giá hạng mục tương ứng.</a:t>
            </a:r>
            <a:endParaRPr lang="en-US" sz="1300" dirty="0"/>
          </a:p>
        </p:txBody>
      </p:sp>
      <p:sp>
        <p:nvSpPr>
          <p:cNvPr id="13" name="Shape 11"/>
          <p:cNvSpPr/>
          <p:nvPr/>
        </p:nvSpPr>
        <p:spPr>
          <a:xfrm>
            <a:off x="6172142" y="3169345"/>
            <a:ext cx="5207001" cy="1175706"/>
          </a:xfrm>
          <a:prstGeom prst="roundRect">
            <a:avLst>
              <a:gd name="adj" fmla="val 8642"/>
            </a:avLst>
          </a:prstGeom>
          <a:solidFill>
            <a:srgbClr val="ECE8DF"/>
          </a:solidFill>
          <a:ln/>
        </p:spPr>
      </p:sp>
      <p:sp>
        <p:nvSpPr>
          <p:cNvPr id="14" name="Text 12"/>
          <p:cNvSpPr/>
          <p:nvPr/>
        </p:nvSpPr>
        <p:spPr>
          <a:xfrm>
            <a:off x="6375283" y="3372483"/>
            <a:ext cx="4944740"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33"/>
                </a:solidFill>
                <a:latin typeface="Times New Roman" pitchFamily="34" charset="0"/>
                <a:ea typeface="Times New Roman" pitchFamily="34" charset="-122"/>
                <a:cs typeface="Times New Roman" pitchFamily="34" charset="-120"/>
              </a:rPr>
              <a:t>Quyền sở hữu</a:t>
            </a:r>
            <a:endParaRPr lang="en-US" sz="1600" dirty="0"/>
          </a:p>
        </p:txBody>
      </p:sp>
      <p:sp>
        <p:nvSpPr>
          <p:cNvPr id="15" name="Text 13"/>
          <p:cNvSpPr/>
          <p:nvPr/>
        </p:nvSpPr>
        <p:spPr>
          <a:xfrm>
            <a:off x="6375283" y="3679769"/>
            <a:ext cx="4944740" cy="48753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263"/>
                </a:solidFill>
                <a:latin typeface="Times New Roman" pitchFamily="34" charset="0"/>
                <a:ea typeface="Times New Roman" pitchFamily="34" charset="-122"/>
                <a:cs typeface="Times New Roman" pitchFamily="34" charset="-120"/>
              </a:rPr>
              <a:t>Mã viết riêng thuộc ABC Wear; thư viện bên thứ ba bàn giao đủ danh mục và giấy phép.</a:t>
            </a:r>
            <a:endParaRPr lang="en-US" sz="1300" dirty="0"/>
          </a:p>
        </p:txBody>
      </p:sp>
      <p:sp>
        <p:nvSpPr>
          <p:cNvPr id="16" name="Text 14"/>
          <p:cNvSpPr/>
          <p:nvPr/>
        </p:nvSpPr>
        <p:spPr>
          <a:xfrm>
            <a:off x="812785" y="4598975"/>
            <a:ext cx="10883348" cy="274255"/>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433"/>
                </a:solidFill>
                <a:latin typeface="Times New Roman" pitchFamily="34" charset="0"/>
                <a:ea typeface="Times New Roman" pitchFamily="34" charset="-122"/>
                <a:cs typeface="Times New Roman" pitchFamily="34" charset="-120"/>
              </a:rPr>
              <a:t>Không dùng nhà thầu phụ khi chưa có văn bản chấp thuận của ABC Wear.</a:t>
            </a:r>
            <a:endParaRPr lang="en-US" sz="1400" dirty="0"/>
          </a:p>
        </p:txBody>
      </p:sp>
      <p:sp>
        <p:nvSpPr>
          <p:cNvPr id="17" name="Text 15"/>
          <p:cNvSpPr/>
          <p:nvPr/>
        </p:nvSpPr>
        <p:spPr>
          <a:xfrm>
            <a:off x="812785" y="6238218"/>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Times New Roman" pitchFamily="34" charset="0"/>
                <a:ea typeface="Times New Roman" pitchFamily="34" charset="-122"/>
                <a:cs typeface="Times New Roman" pitchFamily="34" charset="-120"/>
              </a:rPr>
              <a:t>Công ty TNHH Group 6 · Đề xuất website thương mại điện tử ABC Wear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F"/>
        </a:solidFill>
        <a:effectLst/>
      </p:bgPr>
    </p:bg>
    <p:spTree>
      <p:nvGrpSpPr>
        <p:cNvPr id="1" name=""/>
        <p:cNvGrpSpPr/>
        <p:nvPr/>
      </p:nvGrpSpPr>
      <p:grpSpPr>
        <a:xfrm>
          <a:off x="0" y="0"/>
          <a:ext cx="0" cy="0"/>
          <a:chOff x="0" y="0"/>
          <a:chExt cx="0" cy="0"/>
        </a:xfrm>
      </p:grpSpPr>
      <p:sp>
        <p:nvSpPr>
          <p:cNvPr id="2" name="Text 0"/>
          <p:cNvSpPr/>
          <p:nvPr/>
        </p:nvSpPr>
        <p:spPr>
          <a:xfrm>
            <a:off x="812785" y="812788"/>
            <a:ext cx="10883348" cy="256469"/>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B5482F"/>
                </a:solidFill>
                <a:latin typeface="Times New Roman" pitchFamily="34" charset="0"/>
                <a:ea typeface="Times New Roman" pitchFamily="34" charset="-122"/>
                <a:cs typeface="Times New Roman" pitchFamily="34" charset="-120"/>
              </a:rPr>
              <a:t>11 · RỦI RO VÀ ĐỀ NGHỊ</a:t>
            </a:r>
            <a:endParaRPr lang="en-US" sz="1300" dirty="0"/>
          </a:p>
        </p:txBody>
      </p:sp>
      <p:sp>
        <p:nvSpPr>
          <p:cNvPr id="3" name="Text 1"/>
          <p:cNvSpPr/>
          <p:nvPr/>
        </p:nvSpPr>
        <p:spPr>
          <a:xfrm>
            <a:off x="812785" y="1120000"/>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B2433"/>
                </a:solidFill>
                <a:latin typeface="Times New Roman" pitchFamily="34" charset="0"/>
                <a:ea typeface="Times New Roman" pitchFamily="34" charset="-122"/>
                <a:cs typeface="Times New Roman" pitchFamily="34" charset="-120"/>
              </a:rPr>
              <a:t>Rủi ro và đề nghị</a:t>
            </a:r>
            <a:endParaRPr lang="en-US" sz="3200" dirty="0"/>
          </a:p>
        </p:txBody>
      </p:sp>
      <p:sp>
        <p:nvSpPr>
          <p:cNvPr id="4" name="Shape 2"/>
          <p:cNvSpPr/>
          <p:nvPr/>
        </p:nvSpPr>
        <p:spPr>
          <a:xfrm>
            <a:off x="812785" y="1841277"/>
            <a:ext cx="5587927" cy="2329951"/>
          </a:xfrm>
          <a:prstGeom prst="roundRect">
            <a:avLst>
              <a:gd name="adj" fmla="val 4361"/>
            </a:avLst>
          </a:prstGeom>
          <a:solidFill>
            <a:srgbClr val="F3E3DC"/>
          </a:solidFill>
          <a:ln/>
        </p:spPr>
      </p:sp>
      <p:sp>
        <p:nvSpPr>
          <p:cNvPr id="5" name="Shape 3"/>
          <p:cNvSpPr/>
          <p:nvPr/>
        </p:nvSpPr>
        <p:spPr>
          <a:xfrm>
            <a:off x="812785" y="1841277"/>
            <a:ext cx="5587927" cy="2329951"/>
          </a:xfrm>
          <a:custGeom>
            <a:avLst/>
            <a:gdLst/>
            <a:ahLst/>
            <a:cxnLst/>
            <a:rect l="l" t="t" r="r" b="b"/>
            <a:pathLst>
              <a:path w="5587927" h="2329951">
                <a:moveTo>
                  <a:pt x="101600" y="2329951"/>
                </a:moveTo>
                <a:lnTo>
                  <a:pt x="101600" y="2329951"/>
                </a:lnTo>
                <a:arcTo wR="101600" hR="101600" stAng="5400000" swAng="5400000"/>
                <a:lnTo>
                  <a:pt x="0" y="101600"/>
                </a:lnTo>
                <a:arcTo wR="101600" hR="101600" stAng="10800000" swAng="5400000"/>
                <a:lnTo>
                  <a:pt x="101600" y="0"/>
                </a:lnTo>
                <a:arcTo wR="50800" hR="101600" stAng="16200000" swAng="-5400000"/>
                <a:lnTo>
                  <a:pt x="50800" y="2228351"/>
                </a:lnTo>
                <a:arcTo wR="50800" hR="101600" stAng="10800000" swAng="-5400000"/>
                <a:close/>
              </a:path>
            </a:pathLst>
          </a:custGeom>
          <a:solidFill>
            <a:srgbClr val="B5482F"/>
          </a:solidFill>
          <a:ln/>
        </p:spPr>
      </p:sp>
      <p:sp>
        <p:nvSpPr>
          <p:cNvPr id="6" name="Text 4"/>
          <p:cNvSpPr/>
          <p:nvPr/>
        </p:nvSpPr>
        <p:spPr>
          <a:xfrm>
            <a:off x="1113749" y="2095202"/>
            <a:ext cx="5184028" cy="330185"/>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B5482F"/>
                </a:solidFill>
                <a:latin typeface="Times New Roman" pitchFamily="34" charset="0"/>
                <a:ea typeface="Times New Roman" pitchFamily="34" charset="-122"/>
                <a:cs typeface="Times New Roman" pitchFamily="34" charset="-120"/>
              </a:rPr>
              <a:t>Rủi ro lớn nhất: kết nối Main System</a:t>
            </a:r>
            <a:endParaRPr lang="en-US" sz="2000" dirty="0"/>
          </a:p>
        </p:txBody>
      </p:sp>
      <p:sp>
        <p:nvSpPr>
          <p:cNvPr id="7" name="Text 5"/>
          <p:cNvSpPr/>
          <p:nvPr/>
        </p:nvSpPr>
        <p:spPr>
          <a:xfrm>
            <a:off x="1113749" y="2514278"/>
            <a:ext cx="5184028" cy="540897"/>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B2433"/>
                </a:solidFill>
                <a:latin typeface="Times New Roman" pitchFamily="34" charset="0"/>
                <a:ea typeface="Times New Roman" pitchFamily="34" charset="-122"/>
                <a:cs typeface="Times New Roman" pitchFamily="34" charset="-120"/>
              </a:rPr>
              <a:t>RFP chỉ có một mũi tên: chưa có giao thức, chiều truyền, tần suất hay định dạng dữ liệu.</a:t>
            </a:r>
            <a:endParaRPr lang="en-US" sz="1400" dirty="0"/>
          </a:p>
        </p:txBody>
      </p:sp>
      <p:sp>
        <p:nvSpPr>
          <p:cNvPr id="8" name="Text 6"/>
          <p:cNvSpPr/>
          <p:nvPr/>
        </p:nvSpPr>
        <p:spPr>
          <a:xfrm>
            <a:off x="1113749" y="3144056"/>
            <a:ext cx="5184028" cy="798645"/>
          </a:xfrm>
          <a:prstGeom prst="rect">
            <a:avLst/>
          </a:prstGeom>
          <a:noFill/>
          <a:ln/>
        </p:spPr>
        <p:txBody>
          <a:bodyPr wrap="square" lIns="0" tIns="0" rIns="0" bIns="0" rtlCol="0" anchor="t">
            <a:normAutofit/>
          </a:bodyPr>
          <a:lstStyle/>
          <a:p>
            <a:pPr marL="0" indent="0" algn="l">
              <a:lnSpc>
                <a:spcPts val="2030"/>
              </a:lnSpc>
              <a:buNone/>
            </a:pPr>
            <a:r>
              <a:rPr lang="en-US" sz="1400" b="1" dirty="0">
                <a:solidFill>
                  <a:srgbClr val="1B2433"/>
                </a:solidFill>
                <a:latin typeface="Times New Roman" pitchFamily="34" charset="0"/>
                <a:ea typeface="Times New Roman" pitchFamily="34" charset="-122"/>
                <a:cs typeface="Times New Roman" pitchFamily="34" charset="-120"/>
              </a:rPr>
              <a:t>Đề nghị:</a:t>
            </a:r>
            <a:r>
              <a:rPr lang="en-US" sz="1400" dirty="0">
                <a:solidFill>
                  <a:srgbClr val="1B2433"/>
                </a:solidFill>
                <a:latin typeface="Times New Roman" pitchFamily="34" charset="0"/>
                <a:ea typeface="Times New Roman" pitchFamily="34" charset="-122"/>
                <a:cs typeface="Times New Roman" pitchFamily="34" charset="-120"/>
              </a:rPr>
              <a:t> đặc tả API, dữ liệu mẫu và môi trường thử trong 10 ngày làm việc từ T0. Chậm thì chạy mô phỏng để giữ tiến độ, nhưng </a:t>
            </a:r>
            <a:r>
              <a:rPr lang="en-US" sz="1400" b="1" dirty="0">
                <a:solidFill>
                  <a:srgbClr val="1B2433"/>
                </a:solidFill>
                <a:latin typeface="Times New Roman" pitchFamily="34" charset="0"/>
                <a:ea typeface="Times New Roman" pitchFamily="34" charset="-122"/>
                <a:cs typeface="Times New Roman" pitchFamily="34" charset="-120"/>
              </a:rPr>
              <a:t>nghiệm thu bắt buộc trên giao diện thật</a:t>
            </a:r>
            <a:r>
              <a:rPr lang="en-US" sz="1400" dirty="0">
                <a:solidFill>
                  <a:srgbClr val="1B2433"/>
                </a:solidFill>
                <a:latin typeface="Times New Roman" pitchFamily="34" charset="0"/>
                <a:ea typeface="Times New Roman" pitchFamily="34" charset="-122"/>
                <a:cs typeface="Times New Roman" pitchFamily="34" charset="-120"/>
              </a:rPr>
              <a:t>.</a:t>
            </a:r>
            <a:endParaRPr lang="en-US" sz="1400" dirty="0"/>
          </a:p>
        </p:txBody>
      </p:sp>
      <p:sp>
        <p:nvSpPr>
          <p:cNvPr id="9" name="Text 7"/>
          <p:cNvSpPr/>
          <p:nvPr/>
        </p:nvSpPr>
        <p:spPr>
          <a:xfrm>
            <a:off x="6654640" y="1841277"/>
            <a:ext cx="4866239" cy="269258"/>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B2433"/>
                </a:solidFill>
                <a:latin typeface="Times New Roman" pitchFamily="34" charset="0"/>
                <a:ea typeface="Times New Roman" pitchFamily="34" charset="-122"/>
                <a:cs typeface="Times New Roman" pitchFamily="34" charset="-120"/>
              </a:rPr>
              <a:t>3 trong 14 đề nghị làm rõ</a:t>
            </a:r>
            <a:endParaRPr lang="en-US" sz="1600" dirty="0"/>
          </a:p>
        </p:txBody>
      </p:sp>
      <p:sp>
        <p:nvSpPr>
          <p:cNvPr id="10" name="Text 8"/>
          <p:cNvSpPr/>
          <p:nvPr/>
        </p:nvSpPr>
        <p:spPr>
          <a:xfrm>
            <a:off x="6730781" y="2212070"/>
            <a:ext cx="4782477" cy="771966"/>
          </a:xfrm>
          <a:prstGeom prst="rect">
            <a:avLst/>
          </a:prstGeom>
          <a:noFill/>
          <a:ln/>
        </p:spPr>
        <p:txBody>
          <a:bodyPr wrap="square" lIns="0" tIns="0" rIns="0" bIns="0" rtlCol="0" anchor="t">
            <a:normAutofit/>
          </a:bodyPr>
          <a:lstStyle/>
          <a:p>
            <a:pPr marL="177859" indent="-177859" algn="l">
              <a:lnSpc>
                <a:spcPts val="1960"/>
              </a:lnSpc>
              <a:buSzPct val="100000"/>
              <a:buFontTx/>
              <a:buAutoNum type="arabicPeriod"/>
            </a:pPr>
            <a:r>
              <a:rPr lang="en-US" sz="1400" dirty="0">
                <a:solidFill>
                  <a:srgbClr val="1B2433"/>
                </a:solidFill>
                <a:latin typeface="Times New Roman" pitchFamily="34" charset="0"/>
                <a:ea typeface="Times New Roman" pitchFamily="34" charset="-122"/>
                <a:cs typeface="Times New Roman" pitchFamily="34" charset="-120"/>
              </a:rPr>
              <a:t>Order có gồm thanh toán trực tuyến không?</a:t>
            </a:r>
            <a:endParaRPr lang="en-US" sz="1400" dirty="0"/>
          </a:p>
          <a:p>
            <a:pPr marL="177859" indent="-177859" algn="l">
              <a:lnSpc>
                <a:spcPts val="1960"/>
              </a:lnSpc>
              <a:buSzPct val="100000"/>
              <a:buFontTx/>
              <a:buAutoNum type="arabicPeriod"/>
            </a:pPr>
            <a:r>
              <a:rPr lang="en-US" sz="1400" dirty="0">
                <a:solidFill>
                  <a:srgbClr val="1B2433"/>
                </a:solidFill>
                <a:latin typeface="Times New Roman" pitchFamily="34" charset="0"/>
                <a:ea typeface="Times New Roman" pitchFamily="34" charset="-122"/>
                <a:cs typeface="Times New Roman" pitchFamily="34" charset="-120"/>
              </a:rPr>
              <a:t>Ai thuê và vận hành hạ tầng sau cutover?</a:t>
            </a:r>
            <a:endParaRPr lang="en-US" sz="1400" dirty="0"/>
          </a:p>
          <a:p>
            <a:pPr marL="177859" indent="-177859" algn="l">
              <a:lnSpc>
                <a:spcPts val="1960"/>
              </a:lnSpc>
              <a:buSzPct val="100000"/>
              <a:buFontTx/>
              <a:buAutoNum type="arabicPeriod"/>
            </a:pPr>
            <a:r>
              <a:rPr lang="en-US" sz="1400" dirty="0">
                <a:solidFill>
                  <a:srgbClr val="1B2433"/>
                </a:solidFill>
                <a:latin typeface="Times New Roman" pitchFamily="34" charset="0"/>
                <a:ea typeface="Times New Roman" pitchFamily="34" charset="-122"/>
                <a:cs typeface="Times New Roman" pitchFamily="34" charset="-120"/>
              </a:rPr>
              <a:t>Thông số chính thức để đo tiêu chí 2 giây?</a:t>
            </a:r>
            <a:endParaRPr lang="en-US" sz="1400" dirty="0"/>
          </a:p>
        </p:txBody>
      </p:sp>
      <p:sp>
        <p:nvSpPr>
          <p:cNvPr id="11" name="Text 9"/>
          <p:cNvSpPr/>
          <p:nvPr/>
        </p:nvSpPr>
        <p:spPr>
          <a:xfrm>
            <a:off x="812785" y="6238218"/>
            <a:ext cx="10883348" cy="238757"/>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80"/>
                </a:solidFill>
                <a:latin typeface="Times New Roman" pitchFamily="34" charset="0"/>
                <a:ea typeface="Times New Roman" pitchFamily="34" charset="-122"/>
                <a:cs typeface="Times New Roman" pitchFamily="34" charset="-120"/>
              </a:rPr>
              <a:t>Công ty TNHH Group 6 · Đề xuất website thương mại điện tử ABC Wear</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B5482F"/>
        </a:solidFill>
        <a:effectLst/>
      </p:bgPr>
    </p:bg>
    <p:spTree>
      <p:nvGrpSpPr>
        <p:cNvPr id="1" name=""/>
        <p:cNvGrpSpPr/>
        <p:nvPr/>
      </p:nvGrpSpPr>
      <p:grpSpPr>
        <a:xfrm>
          <a:off x="0" y="0"/>
          <a:ext cx="0" cy="0"/>
          <a:chOff x="0" y="0"/>
          <a:chExt cx="0" cy="0"/>
        </a:xfrm>
      </p:grpSpPr>
      <p:sp>
        <p:nvSpPr>
          <p:cNvPr id="2" name="Text 0"/>
          <p:cNvSpPr/>
          <p:nvPr/>
        </p:nvSpPr>
        <p:spPr>
          <a:xfrm>
            <a:off x="812785" y="812788"/>
            <a:ext cx="10883348" cy="256469"/>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F6D9CF"/>
                </a:solidFill>
                <a:latin typeface="Times New Roman" pitchFamily="34" charset="0"/>
                <a:ea typeface="Times New Roman" pitchFamily="34" charset="-122"/>
                <a:cs typeface="Times New Roman" pitchFamily="34" charset="-120"/>
              </a:rPr>
              <a:t>TÓM LẠI</a:t>
            </a:r>
            <a:endParaRPr lang="en-US" sz="1300" dirty="0"/>
          </a:p>
        </p:txBody>
      </p:sp>
      <p:sp>
        <p:nvSpPr>
          <p:cNvPr id="3" name="Text 1"/>
          <p:cNvSpPr/>
          <p:nvPr/>
        </p:nvSpPr>
        <p:spPr>
          <a:xfrm>
            <a:off x="812785" y="1120006"/>
            <a:ext cx="10883348" cy="492757"/>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F6F4EF"/>
                </a:solidFill>
                <a:latin typeface="Times New Roman" pitchFamily="34" charset="0"/>
                <a:ea typeface="Times New Roman" pitchFamily="34" charset="-122"/>
                <a:cs typeface="Times New Roman" pitchFamily="34" charset="-120"/>
              </a:rPr>
              <a:t>Năm điều chúng tôi cam kết</a:t>
            </a:r>
            <a:endParaRPr lang="en-US" sz="3200" dirty="0"/>
          </a:p>
        </p:txBody>
      </p:sp>
      <p:sp>
        <p:nvSpPr>
          <p:cNvPr id="4" name="Shape 2"/>
          <p:cNvSpPr/>
          <p:nvPr/>
        </p:nvSpPr>
        <p:spPr>
          <a:xfrm>
            <a:off x="812785" y="1844464"/>
            <a:ext cx="10566357" cy="0"/>
          </a:xfrm>
          <a:prstGeom prst="line">
            <a:avLst/>
          </a:prstGeom>
          <a:noFill/>
          <a:ln w="6350">
            <a:solidFill>
              <a:srgbClr val="CC7A66"/>
            </a:solidFill>
            <a:prstDash val="solid"/>
          </a:ln>
        </p:spPr>
      </p:sp>
      <p:sp>
        <p:nvSpPr>
          <p:cNvPr id="5" name="Text 3"/>
          <p:cNvSpPr/>
          <p:nvPr/>
        </p:nvSpPr>
        <p:spPr>
          <a:xfrm>
            <a:off x="812785" y="1947552"/>
            <a:ext cx="165085"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6D9CF"/>
                </a:solidFill>
                <a:latin typeface="Times New Roman" pitchFamily="34" charset="0"/>
                <a:ea typeface="Times New Roman" pitchFamily="34" charset="-122"/>
                <a:cs typeface="Times New Roman" pitchFamily="34" charset="-120"/>
              </a:rPr>
              <a:t>1</a:t>
            </a:r>
            <a:endParaRPr lang="en-US" sz="1800" dirty="0"/>
          </a:p>
        </p:txBody>
      </p:sp>
      <p:sp>
        <p:nvSpPr>
          <p:cNvPr id="6" name="Text 4"/>
          <p:cNvSpPr/>
          <p:nvPr/>
        </p:nvSpPr>
        <p:spPr>
          <a:xfrm>
            <a:off x="1104856" y="1961666"/>
            <a:ext cx="4501818" cy="322542"/>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6F4EF"/>
                </a:solidFill>
                <a:latin typeface="Times New Roman" pitchFamily="34" charset="0"/>
                <a:ea typeface="Times New Roman" pitchFamily="34" charset="-122"/>
                <a:cs typeface="Times New Roman" pitchFamily="34" charset="-120"/>
              </a:rPr>
              <a:t>Đúng phạm vi: không chào thừa, không cắt bớt.</a:t>
            </a:r>
            <a:endParaRPr lang="en-US" sz="1800" dirty="0"/>
          </a:p>
        </p:txBody>
      </p:sp>
      <p:sp>
        <p:nvSpPr>
          <p:cNvPr id="7" name="Shape 5"/>
          <p:cNvSpPr/>
          <p:nvPr/>
        </p:nvSpPr>
        <p:spPr>
          <a:xfrm>
            <a:off x="812785" y="2397658"/>
            <a:ext cx="10566357" cy="0"/>
          </a:xfrm>
          <a:prstGeom prst="line">
            <a:avLst/>
          </a:prstGeom>
          <a:noFill/>
          <a:ln w="6350">
            <a:solidFill>
              <a:srgbClr val="CC7A66"/>
            </a:solidFill>
            <a:prstDash val="solid"/>
          </a:ln>
        </p:spPr>
      </p:sp>
      <p:sp>
        <p:nvSpPr>
          <p:cNvPr id="8" name="Text 6"/>
          <p:cNvSpPr/>
          <p:nvPr/>
        </p:nvSpPr>
        <p:spPr>
          <a:xfrm>
            <a:off x="812785" y="2500759"/>
            <a:ext cx="165085"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6D9CF"/>
                </a:solidFill>
                <a:latin typeface="Times New Roman" pitchFamily="34" charset="0"/>
                <a:ea typeface="Times New Roman" pitchFamily="34" charset="-122"/>
                <a:cs typeface="Times New Roman" pitchFamily="34" charset="-120"/>
              </a:rPr>
              <a:t>2</a:t>
            </a:r>
            <a:endParaRPr lang="en-US" sz="1800" dirty="0"/>
          </a:p>
        </p:txBody>
      </p:sp>
      <p:sp>
        <p:nvSpPr>
          <p:cNvPr id="9" name="Text 7"/>
          <p:cNvSpPr/>
          <p:nvPr/>
        </p:nvSpPr>
        <p:spPr>
          <a:xfrm>
            <a:off x="1104856" y="2514873"/>
            <a:ext cx="4428918" cy="322542"/>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6F4EF"/>
                </a:solidFill>
                <a:latin typeface="Times New Roman" pitchFamily="34" charset="0"/>
                <a:ea typeface="Times New Roman" pitchFamily="34" charset="-122"/>
                <a:cs typeface="Times New Roman" pitchFamily="34" charset="-120"/>
              </a:rPr>
              <a:t>Hai chỉ tiêu gốc giữ nguyên, có cách đo cụ thể.</a:t>
            </a:r>
            <a:endParaRPr lang="en-US" sz="1800" dirty="0"/>
          </a:p>
        </p:txBody>
      </p:sp>
      <p:sp>
        <p:nvSpPr>
          <p:cNvPr id="10" name="Shape 8"/>
          <p:cNvSpPr/>
          <p:nvPr/>
        </p:nvSpPr>
        <p:spPr>
          <a:xfrm>
            <a:off x="812785" y="2950852"/>
            <a:ext cx="10566357" cy="0"/>
          </a:xfrm>
          <a:prstGeom prst="line">
            <a:avLst/>
          </a:prstGeom>
          <a:noFill/>
          <a:ln w="6350">
            <a:solidFill>
              <a:srgbClr val="CC7A66"/>
            </a:solidFill>
            <a:prstDash val="solid"/>
          </a:ln>
        </p:spPr>
      </p:sp>
      <p:sp>
        <p:nvSpPr>
          <p:cNvPr id="11" name="Text 9"/>
          <p:cNvSpPr/>
          <p:nvPr/>
        </p:nvSpPr>
        <p:spPr>
          <a:xfrm>
            <a:off x="812785" y="3053953"/>
            <a:ext cx="165085"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6D9CF"/>
                </a:solidFill>
                <a:latin typeface="Times New Roman" pitchFamily="34" charset="0"/>
                <a:ea typeface="Times New Roman" pitchFamily="34" charset="-122"/>
                <a:cs typeface="Times New Roman" pitchFamily="34" charset="-120"/>
              </a:rPr>
              <a:t>3</a:t>
            </a:r>
            <a:endParaRPr lang="en-US" sz="1800" dirty="0"/>
          </a:p>
        </p:txBody>
      </p:sp>
      <p:sp>
        <p:nvSpPr>
          <p:cNvPr id="12" name="Text 10"/>
          <p:cNvSpPr/>
          <p:nvPr/>
        </p:nvSpPr>
        <p:spPr>
          <a:xfrm>
            <a:off x="1104856" y="3068067"/>
            <a:ext cx="6142772" cy="322542"/>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6F4EF"/>
                </a:solidFill>
                <a:latin typeface="Times New Roman" pitchFamily="34" charset="0"/>
                <a:ea typeface="Times New Roman" pitchFamily="34" charset="-122"/>
                <a:cs typeface="Times New Roman" pitchFamily="34" charset="-120"/>
              </a:rPr>
              <a:t>Lịch về đúng 01/07 qua bảy sprint, mọi quyết định trước cutover.</a:t>
            </a:r>
            <a:endParaRPr lang="en-US" sz="1800" dirty="0"/>
          </a:p>
        </p:txBody>
      </p:sp>
      <p:sp>
        <p:nvSpPr>
          <p:cNvPr id="13" name="Shape 11"/>
          <p:cNvSpPr/>
          <p:nvPr/>
        </p:nvSpPr>
        <p:spPr>
          <a:xfrm>
            <a:off x="812785" y="3504059"/>
            <a:ext cx="10566357" cy="0"/>
          </a:xfrm>
          <a:prstGeom prst="line">
            <a:avLst/>
          </a:prstGeom>
          <a:noFill/>
          <a:ln w="6350">
            <a:solidFill>
              <a:srgbClr val="CC7A66"/>
            </a:solidFill>
            <a:prstDash val="solid"/>
          </a:ln>
        </p:spPr>
      </p:sp>
      <p:sp>
        <p:nvSpPr>
          <p:cNvPr id="14" name="Text 12"/>
          <p:cNvSpPr/>
          <p:nvPr/>
        </p:nvSpPr>
        <p:spPr>
          <a:xfrm>
            <a:off x="812785" y="3607160"/>
            <a:ext cx="165085"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6D9CF"/>
                </a:solidFill>
                <a:latin typeface="Times New Roman" pitchFamily="34" charset="0"/>
                <a:ea typeface="Times New Roman" pitchFamily="34" charset="-122"/>
                <a:cs typeface="Times New Roman" pitchFamily="34" charset="-120"/>
              </a:rPr>
              <a:t>4</a:t>
            </a:r>
            <a:endParaRPr lang="en-US" sz="1800" dirty="0"/>
          </a:p>
        </p:txBody>
      </p:sp>
      <p:sp>
        <p:nvSpPr>
          <p:cNvPr id="15" name="Text 13"/>
          <p:cNvSpPr/>
          <p:nvPr/>
        </p:nvSpPr>
        <p:spPr>
          <a:xfrm>
            <a:off x="1104856" y="3621274"/>
            <a:ext cx="4651931" cy="322542"/>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6F4EF"/>
                </a:solidFill>
                <a:latin typeface="Times New Roman" pitchFamily="34" charset="0"/>
                <a:ea typeface="Times New Roman" pitchFamily="34" charset="-122"/>
                <a:cs typeface="Times New Roman" pitchFamily="34" charset="-120"/>
              </a:rPr>
              <a:t>Giá bóc tách đến từng ngày công của từng người.</a:t>
            </a:r>
            <a:endParaRPr lang="en-US" sz="1800" dirty="0"/>
          </a:p>
        </p:txBody>
      </p:sp>
      <p:sp>
        <p:nvSpPr>
          <p:cNvPr id="16" name="Shape 14"/>
          <p:cNvSpPr/>
          <p:nvPr/>
        </p:nvSpPr>
        <p:spPr>
          <a:xfrm>
            <a:off x="812785" y="4057253"/>
            <a:ext cx="10566357" cy="0"/>
          </a:xfrm>
          <a:prstGeom prst="line">
            <a:avLst/>
          </a:prstGeom>
          <a:noFill/>
          <a:ln w="6350">
            <a:solidFill>
              <a:srgbClr val="CC7A66"/>
            </a:solidFill>
            <a:prstDash val="solid"/>
          </a:ln>
        </p:spPr>
      </p:sp>
      <p:sp>
        <p:nvSpPr>
          <p:cNvPr id="17" name="Text 15"/>
          <p:cNvSpPr/>
          <p:nvPr/>
        </p:nvSpPr>
        <p:spPr>
          <a:xfrm>
            <a:off x="812785" y="4160354"/>
            <a:ext cx="165085" cy="345399"/>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6D9CF"/>
                </a:solidFill>
                <a:latin typeface="Times New Roman" pitchFamily="34" charset="0"/>
                <a:ea typeface="Times New Roman" pitchFamily="34" charset="-122"/>
                <a:cs typeface="Times New Roman" pitchFamily="34" charset="-120"/>
              </a:rPr>
              <a:t>5</a:t>
            </a:r>
            <a:endParaRPr lang="en-US" sz="1800" dirty="0"/>
          </a:p>
        </p:txBody>
      </p:sp>
      <p:sp>
        <p:nvSpPr>
          <p:cNvPr id="18" name="Text 16"/>
          <p:cNvSpPr/>
          <p:nvPr/>
        </p:nvSpPr>
        <p:spPr>
          <a:xfrm>
            <a:off x="1104856" y="4174468"/>
            <a:ext cx="5413097" cy="322542"/>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F6F4EF"/>
                </a:solidFill>
                <a:latin typeface="Times New Roman" pitchFamily="34" charset="0"/>
                <a:ea typeface="Times New Roman" pitchFamily="34" charset="-122"/>
                <a:cs typeface="Times New Roman" pitchFamily="34" charset="-120"/>
              </a:rPr>
              <a:t>Điều chưa chắc chắn được nói thẳng, không giấu vào giá.</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433"/>
        </a:solidFill>
        <a:effectLst/>
      </p:bgPr>
    </p:bg>
    <p:spTree>
      <p:nvGrpSpPr>
        <p:cNvPr id="1" name=""/>
        <p:cNvGrpSpPr/>
        <p:nvPr/>
      </p:nvGrpSpPr>
      <p:grpSpPr>
        <a:xfrm>
          <a:off x="0" y="0"/>
          <a:ext cx="0" cy="0"/>
          <a:chOff x="0" y="0"/>
          <a:chExt cx="0" cy="0"/>
        </a:xfrm>
      </p:grpSpPr>
      <p:sp>
        <p:nvSpPr>
          <p:cNvPr id="2" name="Text 0"/>
          <p:cNvSpPr/>
          <p:nvPr/>
        </p:nvSpPr>
        <p:spPr>
          <a:xfrm>
            <a:off x="812785" y="812788"/>
            <a:ext cx="10883348" cy="863541"/>
          </a:xfrm>
          <a:prstGeom prst="rect">
            <a:avLst/>
          </a:prstGeom>
          <a:noFill/>
          <a:ln/>
        </p:spPr>
        <p:txBody>
          <a:bodyPr wrap="square" lIns="0" tIns="0" rIns="0" bIns="0" rtlCol="0" anchor="t">
            <a:normAutofit/>
          </a:bodyPr>
          <a:lstStyle/>
          <a:p>
            <a:pPr marL="0" indent="0" algn="l">
              <a:lnSpc>
                <a:spcPts val="6600"/>
              </a:lnSpc>
              <a:buNone/>
            </a:pPr>
            <a:r>
              <a:rPr lang="en-US" sz="6000" b="1" dirty="0">
                <a:solidFill>
                  <a:srgbClr val="F6F4EF"/>
                </a:solidFill>
                <a:latin typeface="Times New Roman" pitchFamily="34" charset="0"/>
                <a:ea typeface="Times New Roman" pitchFamily="34" charset="-122"/>
                <a:cs typeface="Times New Roman" pitchFamily="34" charset="-120"/>
              </a:rPr>
              <a:t>Xin cảm ơn</a:t>
            </a:r>
            <a:endParaRPr lang="en-US" sz="6000" dirty="0"/>
          </a:p>
        </p:txBody>
      </p:sp>
      <p:sp>
        <p:nvSpPr>
          <p:cNvPr id="3" name="Text 1"/>
          <p:cNvSpPr/>
          <p:nvPr/>
        </p:nvSpPr>
        <p:spPr>
          <a:xfrm>
            <a:off x="812785" y="1803288"/>
            <a:ext cx="10883348" cy="416542"/>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E8A48F"/>
                </a:solidFill>
                <a:latin typeface="Times New Roman" pitchFamily="34" charset="0"/>
                <a:ea typeface="Times New Roman" pitchFamily="34" charset="-122"/>
                <a:cs typeface="Times New Roman" pitchFamily="34" charset="-120"/>
              </a:rPr>
              <a:t>Hỏi và đáp</a:t>
            </a:r>
            <a:endParaRPr lang="en-US" sz="2200" dirty="0"/>
          </a:p>
        </p:txBody>
      </p:sp>
      <p:sp>
        <p:nvSpPr>
          <p:cNvPr id="4" name="Text 2"/>
          <p:cNvSpPr/>
          <p:nvPr/>
        </p:nvSpPr>
        <p:spPr>
          <a:xfrm>
            <a:off x="812785" y="5778512"/>
            <a:ext cx="10883348" cy="292041"/>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9C2D0"/>
                </a:solidFill>
                <a:latin typeface="Times New Roman" pitchFamily="34" charset="0"/>
                <a:ea typeface="Times New Roman" pitchFamily="34" charset="-122"/>
                <a:cs typeface="Times New Roman" pitchFamily="34" charset="-120"/>
              </a:rPr>
              <a:t>Công ty TNHH Group 6 · Đề xuất website thương mại điện tử ABC Wear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4506</Words>
  <Application>Microsoft Office PowerPoint</Application>
  <PresentationFormat>Widescreen</PresentationFormat>
  <Paragraphs>362</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6 – Đề xuất website thương mại điện tử ABC Wear</dc:title>
  <dc:subject>PptxGenJS Presentation</dc:subject>
  <dc:creator>PptxGenJS</dc:creator>
  <cp:lastModifiedBy>Nguyễn Tiến Lâm</cp:lastModifiedBy>
  <cp:revision>4</cp:revision>
  <dcterms:created xsi:type="dcterms:W3CDTF">2026-09-30T13:51:11Z</dcterms:created>
  <dcterms:modified xsi:type="dcterms:W3CDTF">2026-09-30T13:52:32Z</dcterms:modified>
</cp:coreProperties>
</file>